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7" r:id="rId2"/>
    <p:sldId id="258" r:id="rId3"/>
    <p:sldId id="259" r:id="rId4"/>
    <p:sldId id="260" r:id="rId5"/>
    <p:sldId id="261" r:id="rId6"/>
    <p:sldId id="262" r:id="rId7"/>
    <p:sldId id="263" r:id="rId8"/>
    <p:sldId id="264" r:id="rId9"/>
    <p:sldId id="265" r:id="rId10"/>
    <p:sldId id="266" r:id="rId11"/>
  </p:sldIdLst>
  <p:sldSz cx="12192000" cy="6858000"/>
  <p:notesSz cx="6858000" cy="12192000"/>
  <p:embeddedFontLst>
    <p:embeddedFont>
      <p:font typeface="Calibri" panose="020F0502020204030204" pitchFamily="34" charset="0"/>
      <p:regular r:id="rId13"/>
      <p:bold r:id="rId14"/>
      <p:italic r:id="rId15"/>
      <p:boldItalic r:id="rId16"/>
    </p:embeddedFont>
    <p:embeddedFont>
      <p:font typeface="Inter" panose="020B0604020202020204" charset="0"/>
      <p:regular r:id="rId17"/>
    </p:embeddedFont>
    <p:embeddedFont>
      <p:font typeface="Inter Bold" panose="020B0604020202020204" charset="0"/>
      <p:regular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EC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up Sharma" userId="991aba161e122095" providerId="LiveId" clId="{7B4E2472-7F1B-46CE-9451-4A0C3BAC672A}"/>
    <pc:docChg chg="custSel modSld">
      <pc:chgData name="Anup Sharma" userId="991aba161e122095" providerId="LiveId" clId="{7B4E2472-7F1B-46CE-9451-4A0C3BAC672A}" dt="2026-07-28T06:04:08.729" v="88" actId="14100"/>
      <pc:docMkLst>
        <pc:docMk/>
      </pc:docMkLst>
      <pc:sldChg chg="addSp delSp modSp mod">
        <pc:chgData name="Anup Sharma" userId="991aba161e122095" providerId="LiveId" clId="{7B4E2472-7F1B-46CE-9451-4A0C3BAC672A}" dt="2026-07-28T06:04:08.729" v="88" actId="14100"/>
        <pc:sldMkLst>
          <pc:docMk/>
          <pc:sldMk cId="0" sldId="257"/>
        </pc:sldMkLst>
        <pc:picChg chg="add mod">
          <ac:chgData name="Anup Sharma" userId="991aba161e122095" providerId="LiveId" clId="{7B4E2472-7F1B-46CE-9451-4A0C3BAC672A}" dt="2026-07-28T06:04:08.729" v="88" actId="14100"/>
          <ac:picMkLst>
            <pc:docMk/>
            <pc:sldMk cId="0" sldId="257"/>
            <ac:picMk id="6" creationId="{1F7EFEC5-6BC8-4EC7-B338-3F8D9A6B8105}"/>
          </ac:picMkLst>
        </pc:picChg>
        <pc:picChg chg="del ord">
          <ac:chgData name="Anup Sharma" userId="991aba161e122095" providerId="LiveId" clId="{7B4E2472-7F1B-46CE-9451-4A0C3BAC672A}" dt="2026-07-28T05:56:09.447" v="29" actId="478"/>
          <ac:picMkLst>
            <pc:docMk/>
            <pc:sldMk cId="0" sldId="257"/>
            <ac:picMk id="7" creationId="{73BD2781-9145-47A6-A0C8-3AB0DD212BDE}"/>
          </ac:picMkLst>
        </pc:picChg>
      </pc:sldChg>
      <pc:sldChg chg="addSp delSp modSp mod">
        <pc:chgData name="Anup Sharma" userId="991aba161e122095" providerId="LiveId" clId="{7B4E2472-7F1B-46CE-9451-4A0C3BAC672A}" dt="2026-07-28T05:59:21.577" v="70" actId="14100"/>
        <pc:sldMkLst>
          <pc:docMk/>
          <pc:sldMk cId="0" sldId="258"/>
        </pc:sldMkLst>
        <pc:picChg chg="add mod">
          <ac:chgData name="Anup Sharma" userId="991aba161e122095" providerId="LiveId" clId="{7B4E2472-7F1B-46CE-9451-4A0C3BAC672A}" dt="2026-07-28T05:57:47.760" v="48" actId="1076"/>
          <ac:picMkLst>
            <pc:docMk/>
            <pc:sldMk cId="0" sldId="258"/>
            <ac:picMk id="7" creationId="{EC84410D-0DD2-45B5-BAF2-71203DF03DB2}"/>
          </ac:picMkLst>
        </pc:picChg>
        <pc:picChg chg="add mod">
          <ac:chgData name="Anup Sharma" userId="991aba161e122095" providerId="LiveId" clId="{7B4E2472-7F1B-46CE-9451-4A0C3BAC672A}" dt="2026-07-28T05:58:32.961" v="61" actId="14100"/>
          <ac:picMkLst>
            <pc:docMk/>
            <pc:sldMk cId="0" sldId="258"/>
            <ac:picMk id="9" creationId="{EEB7F598-C38B-4864-A5A4-309C40610743}"/>
          </ac:picMkLst>
        </pc:picChg>
        <pc:picChg chg="del">
          <ac:chgData name="Anup Sharma" userId="991aba161e122095" providerId="LiveId" clId="{7B4E2472-7F1B-46CE-9451-4A0C3BAC672A}" dt="2026-07-28T05:57:38.495" v="45" actId="478"/>
          <ac:picMkLst>
            <pc:docMk/>
            <pc:sldMk cId="0" sldId="258"/>
            <ac:picMk id="10" creationId="{6BC97FDD-405B-4408-BBDB-483EE5E4C1C7}"/>
          </ac:picMkLst>
        </pc:picChg>
        <pc:picChg chg="del">
          <ac:chgData name="Anup Sharma" userId="991aba161e122095" providerId="LiveId" clId="{7B4E2472-7F1B-46CE-9451-4A0C3BAC672A}" dt="2026-07-28T05:59:10.892" v="67" actId="478"/>
          <ac:picMkLst>
            <pc:docMk/>
            <pc:sldMk cId="0" sldId="258"/>
            <ac:picMk id="12" creationId="{8FF9051F-1F58-4FA3-A974-8BFCB1D45121}"/>
          </ac:picMkLst>
        </pc:picChg>
        <pc:picChg chg="add mod">
          <ac:chgData name="Anup Sharma" userId="991aba161e122095" providerId="LiveId" clId="{7B4E2472-7F1B-46CE-9451-4A0C3BAC672A}" dt="2026-07-28T05:59:21.577" v="70" actId="14100"/>
          <ac:picMkLst>
            <pc:docMk/>
            <pc:sldMk cId="0" sldId="258"/>
            <ac:picMk id="13" creationId="{10A16DFD-86EF-4A2C-9B70-E09B33A184ED}"/>
          </ac:picMkLst>
        </pc:picChg>
        <pc:picChg chg="del">
          <ac:chgData name="Anup Sharma" userId="991aba161e122095" providerId="LiveId" clId="{7B4E2472-7F1B-46CE-9451-4A0C3BAC672A}" dt="2026-07-28T05:58:29.998" v="60" actId="478"/>
          <ac:picMkLst>
            <pc:docMk/>
            <pc:sldMk cId="0" sldId="258"/>
            <ac:picMk id="14" creationId="{B6263A9A-83C3-4EE4-B7F9-D3F13C06C7BA}"/>
          </ac:picMkLst>
        </pc:picChg>
      </pc:sldChg>
      <pc:sldChg chg="addSp delSp modSp mod">
        <pc:chgData name="Anup Sharma" userId="991aba161e122095" providerId="LiveId" clId="{7B4E2472-7F1B-46CE-9451-4A0C3BAC672A}" dt="2026-07-28T06:00:11.490" v="79" actId="1076"/>
        <pc:sldMkLst>
          <pc:docMk/>
          <pc:sldMk cId="0" sldId="263"/>
        </pc:sldMkLst>
        <pc:picChg chg="add mod">
          <ac:chgData name="Anup Sharma" userId="991aba161e122095" providerId="LiveId" clId="{7B4E2472-7F1B-46CE-9451-4A0C3BAC672A}" dt="2026-07-28T06:00:11.490" v="79" actId="1076"/>
          <ac:picMkLst>
            <pc:docMk/>
            <pc:sldMk cId="0" sldId="263"/>
            <ac:picMk id="7" creationId="{74FA8DD2-A92F-4772-9EB5-9519F691965F}"/>
          </ac:picMkLst>
        </pc:picChg>
        <pc:picChg chg="del mod">
          <ac:chgData name="Anup Sharma" userId="991aba161e122095" providerId="LiveId" clId="{7B4E2472-7F1B-46CE-9451-4A0C3BAC672A}" dt="2026-07-28T06:00:00.607" v="76" actId="478"/>
          <ac:picMkLst>
            <pc:docMk/>
            <pc:sldMk cId="0" sldId="263"/>
            <ac:picMk id="8" creationId="{3899B14D-9CA9-4E40-922E-3F0D46CD0235}"/>
          </ac:picMkLst>
        </pc:picChg>
      </pc:sldChg>
      <pc:sldChg chg="addSp delSp modSp mod">
        <pc:chgData name="Anup Sharma" userId="991aba161e122095" providerId="LiveId" clId="{7B4E2472-7F1B-46CE-9451-4A0C3BAC672A}" dt="2026-07-28T06:00:56.719" v="85" actId="1076"/>
        <pc:sldMkLst>
          <pc:docMk/>
          <pc:sldMk cId="0" sldId="264"/>
        </pc:sldMkLst>
        <pc:picChg chg="add mod">
          <ac:chgData name="Anup Sharma" userId="991aba161e122095" providerId="LiveId" clId="{7B4E2472-7F1B-46CE-9451-4A0C3BAC672A}" dt="2026-07-28T06:00:56.719" v="85" actId="1076"/>
          <ac:picMkLst>
            <pc:docMk/>
            <pc:sldMk cId="0" sldId="264"/>
            <ac:picMk id="7" creationId="{59C8A28B-6AFC-4072-8D91-7BB5DEA16D12}"/>
          </ac:picMkLst>
        </pc:picChg>
        <pc:picChg chg="del">
          <ac:chgData name="Anup Sharma" userId="991aba161e122095" providerId="LiveId" clId="{7B4E2472-7F1B-46CE-9451-4A0C3BAC672A}" dt="2026-07-28T06:00:46.419" v="84" actId="478"/>
          <ac:picMkLst>
            <pc:docMk/>
            <pc:sldMk cId="0" sldId="264"/>
            <ac:picMk id="8" creationId="{0CBA1EEC-2CAB-40F2-AA4C-D94C75C8F27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9375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4F4"/>
          </a:solidFill>
          <a:ln/>
        </p:spPr>
      </p:sp>
      <p:sp>
        <p:nvSpPr>
          <p:cNvPr id="3" name="Shape 1"/>
          <p:cNvSpPr/>
          <p:nvPr/>
        </p:nvSpPr>
        <p:spPr>
          <a:xfrm>
            <a:off x="0" y="0"/>
            <a:ext cx="12191695" cy="68580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4F4"/>
          </a:solidFill>
          <a:ln/>
        </p:spPr>
      </p:sp>
      <p:sp>
        <p:nvSpPr>
          <p:cNvPr id="3" name="Shape 1"/>
          <p:cNvSpPr/>
          <p:nvPr/>
        </p:nvSpPr>
        <p:spPr>
          <a:xfrm>
            <a:off x="0" y="0"/>
            <a:ext cx="12191695" cy="6858000"/>
          </a:xfrm>
          <a:prstGeom prst="rect">
            <a:avLst/>
          </a:prstGeom>
          <a:solidFill>
            <a:srgbClr val="FFFFFF"/>
          </a:solidFill>
          <a:ln/>
        </p:spPr>
      </p:sp>
      <p:pic>
        <p:nvPicPr>
          <p:cNvPr id="4"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5" name="Shape 2"/>
          <p:cNvSpPr/>
          <p:nvPr/>
        </p:nvSpPr>
        <p:spPr>
          <a:xfrm>
            <a:off x="0" y="0"/>
            <a:ext cx="12191695" cy="6858000"/>
          </a:xfrm>
          <a:prstGeom prst="rect">
            <a:avLst/>
          </a:prstGeom>
          <a:solidFill>
            <a:srgbClr val="FFFFFF">
              <a:alpha val="50000"/>
            </a:srgbClr>
          </a:solidFill>
          <a:ln/>
        </p:spPr>
      </p:sp>
      <p:pic>
        <p:nvPicPr>
          <p:cNvPr id="6"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4F4"/>
          </a:solidFill>
          <a:ln/>
        </p:spPr>
      </p:sp>
      <p:sp>
        <p:nvSpPr>
          <p:cNvPr id="3" name="Shape 1"/>
          <p:cNvSpPr/>
          <p:nvPr/>
        </p:nvSpPr>
        <p:spPr>
          <a:xfrm>
            <a:off x="0" y="0"/>
            <a:ext cx="12191695" cy="6858000"/>
          </a:xfrm>
          <a:prstGeom prst="rect">
            <a:avLst/>
          </a:prstGeom>
          <a:solidFill>
            <a:srgbClr val="FFFFFF"/>
          </a:solidFill>
          <a:ln/>
        </p:spPr>
      </p:sp>
      <p:pic>
        <p:nvPicPr>
          <p:cNvPr id="4"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5" name="Shape 2"/>
          <p:cNvSpPr/>
          <p:nvPr/>
        </p:nvSpPr>
        <p:spPr>
          <a:xfrm>
            <a:off x="0" y="0"/>
            <a:ext cx="12191695" cy="6858000"/>
          </a:xfrm>
          <a:prstGeom prst="rect">
            <a:avLst/>
          </a:prstGeom>
          <a:solidFill>
            <a:srgbClr val="FFFFFF">
              <a:alpha val="50000"/>
            </a:srgbClr>
          </a:solidFill>
          <a:ln/>
        </p:spPr>
      </p:sp>
      <p:pic>
        <p:nvPicPr>
          <p:cNvPr id="6"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2101267" y="75085"/>
            <a:ext cx="7989466" cy="604837"/>
          </a:xfrm>
          <a:prstGeom prst="rect">
            <a:avLst/>
          </a:prstGeom>
          <a:noFill/>
          <a:ln/>
        </p:spPr>
        <p:txBody>
          <a:bodyPr wrap="square" lIns="0" tIns="0" rIns="0" bIns="0" rtlCol="0" anchor="t">
            <a:normAutofit/>
          </a:bodyPr>
          <a:lstStyle/>
          <a:p>
            <a:pPr marL="0" indent="0" algn="ctr">
              <a:lnSpc>
                <a:spcPct val="104000"/>
              </a:lnSpc>
              <a:buNone/>
            </a:pPr>
            <a:r>
              <a:rPr lang="en-US" sz="3200" b="1" dirty="0">
                <a:solidFill>
                  <a:srgbClr val="000000"/>
                </a:solidFill>
                <a:latin typeface="Inter Bold" pitchFamily="34" charset="0"/>
                <a:ea typeface="Inter Bold" pitchFamily="34" charset="-122"/>
                <a:cs typeface="Inter Bold" pitchFamily="34" charset="-120"/>
              </a:rPr>
              <a:t>Mobile Sales Analysis Dashboard</a:t>
            </a:r>
            <a:endParaRPr lang="en-US" sz="3200" dirty="0"/>
          </a:p>
        </p:txBody>
      </p:sp>
      <p:sp>
        <p:nvSpPr>
          <p:cNvPr id="4" name="Text 1"/>
          <p:cNvSpPr/>
          <p:nvPr/>
        </p:nvSpPr>
        <p:spPr>
          <a:xfrm>
            <a:off x="3492559" y="679922"/>
            <a:ext cx="5206881" cy="708819"/>
          </a:xfrm>
          <a:prstGeom prst="rect">
            <a:avLst/>
          </a:prstGeom>
          <a:noFill/>
          <a:ln/>
        </p:spPr>
        <p:txBody>
          <a:bodyPr wrap="square" lIns="0" tIns="0" rIns="0" bIns="0" rtlCol="0" anchor="t">
            <a:normAutofit/>
          </a:bodyPr>
          <a:lstStyle/>
          <a:p>
            <a:pPr marL="0" indent="0" algn="ctr">
              <a:lnSpc>
                <a:spcPct val="104000"/>
              </a:lnSpc>
              <a:buNone/>
            </a:pPr>
            <a:r>
              <a:rPr lang="en-US" sz="2200" b="1" dirty="0">
                <a:solidFill>
                  <a:srgbClr val="000000"/>
                </a:solidFill>
                <a:latin typeface="Inter Bold" pitchFamily="34" charset="0"/>
                <a:ea typeface="Inter Bold" pitchFamily="34" charset="-122"/>
                <a:cs typeface="Inter Bold" pitchFamily="34" charset="-120"/>
              </a:rPr>
              <a:t>Power BI Portfolio Project</a:t>
            </a:r>
            <a:endParaRPr lang="en-US" sz="2200" dirty="0"/>
          </a:p>
        </p:txBody>
      </p:sp>
      <p:sp>
        <p:nvSpPr>
          <p:cNvPr id="5" name="Text 2"/>
          <p:cNvSpPr/>
          <p:nvPr/>
        </p:nvSpPr>
        <p:spPr>
          <a:xfrm>
            <a:off x="4521683" y="1086322"/>
            <a:ext cx="1879117" cy="604838"/>
          </a:xfrm>
          <a:prstGeom prst="rect">
            <a:avLst/>
          </a:prstGeom>
          <a:noFill/>
          <a:ln/>
        </p:spPr>
        <p:txBody>
          <a:bodyPr wrap="square" lIns="0" tIns="0" rIns="0" bIns="0" rtlCol="0" anchor="t">
            <a:normAutofit fontScale="77500" lnSpcReduction="20000"/>
          </a:bodyPr>
          <a:lstStyle/>
          <a:p>
            <a:pPr marL="0" indent="0" algn="ctr">
              <a:lnSpc>
                <a:spcPct val="133000"/>
              </a:lnSpc>
              <a:buNone/>
            </a:pPr>
            <a:r>
              <a:rPr lang="en-US" sz="1450" dirty="0">
                <a:solidFill>
                  <a:srgbClr val="272525"/>
                </a:solidFill>
                <a:latin typeface="Inter" pitchFamily="34" charset="0"/>
                <a:ea typeface="Inter" pitchFamily="34" charset="-122"/>
                <a:cs typeface="Inter" pitchFamily="34" charset="-120"/>
              </a:rPr>
              <a:t>Prepared By </a:t>
            </a:r>
          </a:p>
          <a:p>
            <a:pPr marL="0" indent="0" algn="ctr">
              <a:lnSpc>
                <a:spcPct val="133000"/>
              </a:lnSpc>
              <a:buNone/>
            </a:pPr>
            <a:r>
              <a:rPr lang="en-US" sz="1450" dirty="0">
                <a:solidFill>
                  <a:srgbClr val="272525"/>
                </a:solidFill>
                <a:latin typeface="Inter" pitchFamily="34" charset="0"/>
                <a:ea typeface="Inter" pitchFamily="34" charset="-122"/>
                <a:cs typeface="Inter" pitchFamily="34" charset="-120"/>
              </a:rPr>
              <a:t>Anup Sharma </a:t>
            </a:r>
          </a:p>
          <a:p>
            <a:pPr marL="0" indent="0" algn="ctr">
              <a:lnSpc>
                <a:spcPct val="133000"/>
              </a:lnSpc>
              <a:buNone/>
            </a:pPr>
            <a:r>
              <a:rPr lang="en-US" sz="1450" dirty="0">
                <a:solidFill>
                  <a:srgbClr val="272525"/>
                </a:solidFill>
                <a:latin typeface="Inter" pitchFamily="34" charset="0"/>
                <a:ea typeface="Inter" pitchFamily="34" charset="-122"/>
                <a:cs typeface="Inter" pitchFamily="34" charset="-120"/>
              </a:rPr>
              <a:t>Aspiring Data Analyst</a:t>
            </a:r>
            <a:endParaRPr lang="en-US" sz="1450" dirty="0"/>
          </a:p>
        </p:txBody>
      </p:sp>
      <p:sp>
        <p:nvSpPr>
          <p:cNvPr id="8" name="Rectangle 7">
            <a:extLst>
              <a:ext uri="{FF2B5EF4-FFF2-40B4-BE49-F238E27FC236}">
                <a16:creationId xmlns:a16="http://schemas.microsoft.com/office/drawing/2014/main" id="{11116B83-7E38-4E20-A5FD-4BECF28984BF}"/>
              </a:ext>
            </a:extLst>
          </p:cNvPr>
          <p:cNvSpPr/>
          <p:nvPr/>
        </p:nvSpPr>
        <p:spPr>
          <a:xfrm>
            <a:off x="11080376" y="6544235"/>
            <a:ext cx="1048871" cy="3024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a:extLst>
              <a:ext uri="{FF2B5EF4-FFF2-40B4-BE49-F238E27FC236}">
                <a16:creationId xmlns:a16="http://schemas.microsoft.com/office/drawing/2014/main" id="{1F7EFEC5-6BC8-4EC7-B338-3F8D9A6B8105}"/>
              </a:ext>
            </a:extLst>
          </p:cNvPr>
          <p:cNvPicPr>
            <a:picLocks noChangeAspect="1"/>
          </p:cNvPicPr>
          <p:nvPr/>
        </p:nvPicPr>
        <p:blipFill>
          <a:blip r:embed="rId3"/>
          <a:stretch>
            <a:fillRect/>
          </a:stretch>
        </p:blipFill>
        <p:spPr>
          <a:xfrm>
            <a:off x="322729" y="1691161"/>
            <a:ext cx="11528611" cy="4893318"/>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296909"/>
            <a:ext cx="6364426" cy="502047"/>
          </a:xfrm>
          <a:prstGeom prst="rect">
            <a:avLst/>
          </a:prstGeom>
          <a:noFill/>
          <a:ln/>
        </p:spPr>
        <p:txBody>
          <a:bodyPr wrap="none" lIns="0" tIns="0" rIns="0" bIns="0" rtlCol="0" anchor="t"/>
          <a:lstStyle/>
          <a:p>
            <a:pPr marL="0" indent="0" algn="l">
              <a:lnSpc>
                <a:spcPct val="104000"/>
              </a:lnSpc>
              <a:buNone/>
            </a:pPr>
            <a:r>
              <a:rPr lang="en-US" sz="3200" b="1" dirty="0">
                <a:solidFill>
                  <a:srgbClr val="000000"/>
                </a:solidFill>
                <a:latin typeface="Inter Bold" pitchFamily="34" charset="0"/>
                <a:ea typeface="Inter Bold" pitchFamily="34" charset="-122"/>
                <a:cs typeface="Inter Bold" pitchFamily="34" charset="-120"/>
              </a:rPr>
              <a:t>Project</a:t>
            </a:r>
            <a:r>
              <a:rPr lang="en-US" sz="3150" b="1" dirty="0">
                <a:solidFill>
                  <a:srgbClr val="000000"/>
                </a:solidFill>
                <a:latin typeface="Inter Bold" pitchFamily="34" charset="0"/>
                <a:ea typeface="Inter Bold" pitchFamily="34" charset="-122"/>
                <a:cs typeface="Inter Bold" pitchFamily="34" charset="-120"/>
              </a:rPr>
              <a:t> </a:t>
            </a:r>
            <a:r>
              <a:rPr lang="en-US" sz="3200" b="1" dirty="0">
                <a:solidFill>
                  <a:srgbClr val="000000"/>
                </a:solidFill>
                <a:latin typeface="Inter Bold" pitchFamily="34" charset="0"/>
                <a:ea typeface="Inter Bold" pitchFamily="34" charset="-122"/>
                <a:cs typeface="Inter Bold" pitchFamily="34" charset="-120"/>
              </a:rPr>
              <a:t>Introduction</a:t>
            </a:r>
            <a:endParaRPr lang="en-US" sz="3200" dirty="0"/>
          </a:p>
        </p:txBody>
      </p:sp>
      <p:sp>
        <p:nvSpPr>
          <p:cNvPr id="3" name="Text 1"/>
          <p:cNvSpPr/>
          <p:nvPr/>
        </p:nvSpPr>
        <p:spPr>
          <a:xfrm>
            <a:off x="661475" y="864137"/>
            <a:ext cx="6364426" cy="950912"/>
          </a:xfrm>
          <a:prstGeom prst="rect">
            <a:avLst/>
          </a:prstGeom>
          <a:noFill/>
          <a:ln/>
        </p:spPr>
        <p:txBody>
          <a:bodyPr wrap="square" lIns="0" tIns="0" rIns="0" bIns="0" rtlCol="0" anchor="t">
            <a:normAutofit lnSpcReduction="10000"/>
          </a:bodyPr>
          <a:lstStyle/>
          <a:p>
            <a:pPr marL="0" indent="0" algn="l">
              <a:lnSpc>
                <a:spcPct val="123000"/>
              </a:lnSpc>
              <a:buNone/>
            </a:pPr>
            <a:r>
              <a:rPr lang="en-US" sz="1400" dirty="0">
                <a:solidFill>
                  <a:srgbClr val="272525"/>
                </a:solidFill>
                <a:latin typeface="Inter" pitchFamily="34" charset="0"/>
                <a:ea typeface="Inter" pitchFamily="34" charset="-122"/>
                <a:cs typeface="Inter" pitchFamily="34" charset="-120"/>
              </a:rPr>
              <a:t>This project presents an interactive Power BI dashboard developed to analyze mobile sales data. The dashboard enables users to monitor sales performance, compare trends over time, evaluate customer ratings, and analyze payment methods using interactive filters.</a:t>
            </a:r>
            <a:endParaRPr lang="en-US" sz="1400" dirty="0"/>
          </a:p>
        </p:txBody>
      </p:sp>
      <p:sp>
        <p:nvSpPr>
          <p:cNvPr id="4" name="Text 2"/>
          <p:cNvSpPr/>
          <p:nvPr/>
        </p:nvSpPr>
        <p:spPr>
          <a:xfrm>
            <a:off x="661475" y="1965048"/>
            <a:ext cx="6364426" cy="301228"/>
          </a:xfrm>
          <a:prstGeom prst="rect">
            <a:avLst/>
          </a:prstGeom>
          <a:noFill/>
          <a:ln/>
        </p:spPr>
        <p:txBody>
          <a:bodyPr wrap="none" lIns="0" tIns="0" rIns="0" bIns="0" rtlCol="0" anchor="t"/>
          <a:lstStyle/>
          <a:p>
            <a:pPr marL="0" indent="0" algn="l">
              <a:lnSpc>
                <a:spcPct val="104000"/>
              </a:lnSpc>
              <a:buNone/>
            </a:pPr>
            <a:r>
              <a:rPr lang="en-US" sz="1850" b="1" dirty="0">
                <a:solidFill>
                  <a:srgbClr val="000000"/>
                </a:solidFill>
                <a:latin typeface="Inter Bold" pitchFamily="34" charset="0"/>
                <a:ea typeface="Inter Bold" pitchFamily="34" charset="-122"/>
                <a:cs typeface="Inter Bold" pitchFamily="34" charset="-120"/>
              </a:rPr>
              <a:t>Dashboard Pages:</a:t>
            </a:r>
            <a:endParaRPr lang="en-US" sz="1850" dirty="0"/>
          </a:p>
        </p:txBody>
      </p:sp>
      <p:sp>
        <p:nvSpPr>
          <p:cNvPr id="5" name="Text 3"/>
          <p:cNvSpPr/>
          <p:nvPr/>
        </p:nvSpPr>
        <p:spPr>
          <a:xfrm>
            <a:off x="661475" y="2437210"/>
            <a:ext cx="6364426" cy="808633"/>
          </a:xfrm>
          <a:prstGeom prst="rect">
            <a:avLst/>
          </a:prstGeom>
          <a:noFill/>
          <a:ln/>
        </p:spPr>
        <p:txBody>
          <a:bodyPr wrap="square" lIns="0" tIns="0" rIns="0" bIns="0" rtlCol="0" anchor="t">
            <a:normAutofit/>
          </a:bodyPr>
          <a:lstStyle/>
          <a:p>
            <a:pPr marL="254000" indent="-254000" algn="l">
              <a:lnSpc>
                <a:spcPct val="123000"/>
              </a:lnSpc>
              <a:buSzPct val="100000"/>
              <a:buFont typeface="+mj-lt"/>
              <a:buAutoNum type="arabicPeriod"/>
            </a:pPr>
            <a:r>
              <a:rPr lang="en-US" sz="1400" dirty="0">
                <a:solidFill>
                  <a:srgbClr val="272525"/>
                </a:solidFill>
                <a:latin typeface="Inter" pitchFamily="34" charset="0"/>
                <a:ea typeface="Inter" pitchFamily="34" charset="-122"/>
                <a:cs typeface="Inter" pitchFamily="34" charset="-120"/>
              </a:rPr>
              <a:t>Executive Dashboard</a:t>
            </a:r>
            <a:endParaRPr lang="en-US" sz="1400" dirty="0"/>
          </a:p>
          <a:p>
            <a:pPr marL="254000" indent="-254000" algn="l">
              <a:lnSpc>
                <a:spcPct val="123000"/>
              </a:lnSpc>
              <a:buSzPct val="100000"/>
              <a:buFont typeface="+mj-lt"/>
              <a:buAutoNum type="arabicPeriod" startAt="2"/>
            </a:pPr>
            <a:r>
              <a:rPr lang="en-US" sz="1400" dirty="0">
                <a:solidFill>
                  <a:srgbClr val="272525"/>
                </a:solidFill>
                <a:latin typeface="Inter" pitchFamily="34" charset="0"/>
                <a:ea typeface="Inter" pitchFamily="34" charset="-122"/>
                <a:cs typeface="Inter" pitchFamily="34" charset="-120"/>
              </a:rPr>
              <a:t>Month-to-Date (MTD) Analysis</a:t>
            </a:r>
            <a:endParaRPr lang="en-US" sz="1400" dirty="0"/>
          </a:p>
          <a:p>
            <a:pPr marL="254000" indent="-254000" algn="l">
              <a:lnSpc>
                <a:spcPct val="123000"/>
              </a:lnSpc>
              <a:buSzPct val="100000"/>
              <a:buFont typeface="+mj-lt"/>
              <a:buAutoNum type="arabicPeriod" startAt="3"/>
            </a:pPr>
            <a:r>
              <a:rPr lang="en-US" sz="1400" dirty="0">
                <a:solidFill>
                  <a:srgbClr val="272525"/>
                </a:solidFill>
                <a:latin typeface="Inter" pitchFamily="34" charset="0"/>
                <a:ea typeface="Inter" pitchFamily="34" charset="-122"/>
                <a:cs typeface="Inter" pitchFamily="34" charset="-120"/>
              </a:rPr>
              <a:t>Same Period Last Year (SPLY) Analysis</a:t>
            </a:r>
            <a:endParaRPr lang="en-US" sz="1400" dirty="0"/>
          </a:p>
        </p:txBody>
      </p:sp>
      <p:sp>
        <p:nvSpPr>
          <p:cNvPr id="15" name="Rectangle 14">
            <a:extLst>
              <a:ext uri="{FF2B5EF4-FFF2-40B4-BE49-F238E27FC236}">
                <a16:creationId xmlns:a16="http://schemas.microsoft.com/office/drawing/2014/main" id="{9498674C-2F9A-4974-AA58-B3D043FBBD65}"/>
              </a:ext>
            </a:extLst>
          </p:cNvPr>
          <p:cNvSpPr/>
          <p:nvPr/>
        </p:nvSpPr>
        <p:spPr>
          <a:xfrm>
            <a:off x="11080376" y="6553200"/>
            <a:ext cx="1048871" cy="3024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EC84410D-0DD2-45B5-BAF2-71203DF03DB2}"/>
              </a:ext>
            </a:extLst>
          </p:cNvPr>
          <p:cNvPicPr>
            <a:picLocks noChangeAspect="1"/>
          </p:cNvPicPr>
          <p:nvPr/>
        </p:nvPicPr>
        <p:blipFill>
          <a:blip r:embed="rId3"/>
          <a:stretch>
            <a:fillRect/>
          </a:stretch>
        </p:blipFill>
        <p:spPr>
          <a:xfrm>
            <a:off x="5871882" y="1584637"/>
            <a:ext cx="5832701" cy="2355145"/>
          </a:xfrm>
          <a:prstGeom prst="rect">
            <a:avLst/>
          </a:prstGeom>
          <a:ln>
            <a:noFill/>
          </a:ln>
          <a:effectLst>
            <a:outerShdw blurRad="50800" dist="38100" dir="2700000" algn="tl" rotWithShape="0">
              <a:prstClr val="black">
                <a:alpha val="40000"/>
              </a:prstClr>
            </a:outerShdw>
          </a:effectLst>
          <a:scene3d>
            <a:camera prst="orthographicFront">
              <a:rot lat="0" lon="0" rev="0"/>
            </a:camera>
            <a:lightRig rig="glow" dir="t">
              <a:rot lat="0" lon="0" rev="4800000"/>
            </a:lightRig>
          </a:scene3d>
          <a:sp3d prstMaterial="matte">
            <a:bevelT w="127000" h="63500"/>
          </a:sp3d>
        </p:spPr>
      </p:pic>
      <p:pic>
        <p:nvPicPr>
          <p:cNvPr id="9" name="Picture 8">
            <a:extLst>
              <a:ext uri="{FF2B5EF4-FFF2-40B4-BE49-F238E27FC236}">
                <a16:creationId xmlns:a16="http://schemas.microsoft.com/office/drawing/2014/main" id="{EEB7F598-C38B-4864-A5A4-309C40610743}"/>
              </a:ext>
            </a:extLst>
          </p:cNvPr>
          <p:cNvPicPr>
            <a:picLocks noChangeAspect="1"/>
          </p:cNvPicPr>
          <p:nvPr/>
        </p:nvPicPr>
        <p:blipFill>
          <a:blip r:embed="rId4"/>
          <a:stretch>
            <a:fillRect/>
          </a:stretch>
        </p:blipFill>
        <p:spPr>
          <a:xfrm>
            <a:off x="5871882" y="4110715"/>
            <a:ext cx="5832701" cy="2593693"/>
          </a:xfrm>
          <a:prstGeom prst="rect">
            <a:avLst/>
          </a:prstGeom>
          <a:ln>
            <a:noFill/>
          </a:ln>
          <a:effectLst>
            <a:outerShdw blurRad="50800" dist="38100" dir="2700000" algn="tl" rotWithShape="0">
              <a:prstClr val="black">
                <a:alpha val="40000"/>
              </a:prstClr>
            </a:outerShdw>
          </a:effectLst>
          <a:scene3d>
            <a:camera prst="orthographicFront">
              <a:rot lat="0" lon="0" rev="0"/>
            </a:camera>
            <a:lightRig rig="glow" dir="t">
              <a:rot lat="0" lon="0" rev="4800000"/>
            </a:lightRig>
          </a:scene3d>
          <a:sp3d prstMaterial="matte">
            <a:bevelT w="127000" h="63500"/>
          </a:sp3d>
        </p:spPr>
      </p:pic>
      <p:pic>
        <p:nvPicPr>
          <p:cNvPr id="13" name="Picture 12">
            <a:extLst>
              <a:ext uri="{FF2B5EF4-FFF2-40B4-BE49-F238E27FC236}">
                <a16:creationId xmlns:a16="http://schemas.microsoft.com/office/drawing/2014/main" id="{10A16DFD-86EF-4A2C-9B70-E09B33A184ED}"/>
              </a:ext>
            </a:extLst>
          </p:cNvPr>
          <p:cNvPicPr>
            <a:picLocks noChangeAspect="1"/>
          </p:cNvPicPr>
          <p:nvPr/>
        </p:nvPicPr>
        <p:blipFill>
          <a:blip r:embed="rId5"/>
          <a:stretch>
            <a:fillRect/>
          </a:stretch>
        </p:blipFill>
        <p:spPr>
          <a:xfrm>
            <a:off x="661474" y="3903798"/>
            <a:ext cx="4941467" cy="2800610"/>
          </a:xfrm>
          <a:prstGeom prst="rect">
            <a:avLst/>
          </a:prstGeom>
          <a:ln>
            <a:noFill/>
          </a:ln>
          <a:effectLst>
            <a:outerShdw blurRad="50800" dist="38100" dir="2700000" algn="tl" rotWithShape="0">
              <a:prstClr val="black">
                <a:alpha val="40000"/>
              </a:prstClr>
            </a:outerShdw>
          </a:effectLst>
          <a:scene3d>
            <a:camera prst="orthographicFront">
              <a:rot lat="0" lon="0" rev="0"/>
            </a:camera>
            <a:lightRig rig="glow" dir="t">
              <a:rot lat="0" lon="0" rev="4800000"/>
            </a:lightRig>
          </a:scene3d>
          <a:sp3d prstMaterial="matte">
            <a:bevelT w="127000" h="63500"/>
          </a:sp3d>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805259"/>
            <a:ext cx="10868745" cy="472480"/>
          </a:xfrm>
          <a:prstGeom prst="rect">
            <a:avLst/>
          </a:prstGeom>
          <a:noFill/>
          <a:ln/>
        </p:spPr>
        <p:txBody>
          <a:bodyPr wrap="none" lIns="0" tIns="0" rIns="0" bIns="0" rtlCol="0" anchor="t"/>
          <a:lstStyle/>
          <a:p>
            <a:pPr marL="0" indent="0" algn="l">
              <a:lnSpc>
                <a:spcPct val="104000"/>
              </a:lnSpc>
              <a:buNone/>
            </a:pPr>
            <a:r>
              <a:rPr lang="en-US" sz="3200" b="1" dirty="0">
                <a:solidFill>
                  <a:srgbClr val="000000"/>
                </a:solidFill>
                <a:latin typeface="Inter Bold" pitchFamily="34" charset="0"/>
                <a:ea typeface="Inter Bold" pitchFamily="34" charset="-122"/>
                <a:cs typeface="Inter Bold" pitchFamily="34" charset="-120"/>
              </a:rPr>
              <a:t>Dataset Overview</a:t>
            </a:r>
            <a:endParaRPr lang="en-US" sz="3200" dirty="0"/>
          </a:p>
        </p:txBody>
      </p:sp>
      <p:sp>
        <p:nvSpPr>
          <p:cNvPr id="3" name="Shape 1"/>
          <p:cNvSpPr/>
          <p:nvPr/>
        </p:nvSpPr>
        <p:spPr>
          <a:xfrm>
            <a:off x="661475" y="1595140"/>
            <a:ext cx="5249930" cy="1915319"/>
          </a:xfrm>
          <a:prstGeom prst="roundRect">
            <a:avLst>
              <a:gd name="adj" fmla="val 3316"/>
            </a:avLst>
          </a:prstGeom>
          <a:noFill/>
          <a:ln w="6350">
            <a:solidFill>
              <a:srgbClr val="000000">
                <a:alpha val="8000"/>
              </a:srgbClr>
            </a:solidFill>
            <a:prstDash val="solid"/>
          </a:ln>
        </p:spPr>
      </p:sp>
      <p:sp>
        <p:nvSpPr>
          <p:cNvPr id="4" name="Shape 2"/>
          <p:cNvSpPr/>
          <p:nvPr/>
        </p:nvSpPr>
        <p:spPr>
          <a:xfrm>
            <a:off x="661475" y="1980109"/>
            <a:ext cx="5249930" cy="9451"/>
          </a:xfrm>
          <a:prstGeom prst="rect">
            <a:avLst/>
          </a:prstGeom>
          <a:solidFill>
            <a:srgbClr val="000000">
              <a:alpha val="8000"/>
            </a:srgbClr>
          </a:solidFill>
          <a:ln/>
        </p:spPr>
      </p:sp>
      <p:sp>
        <p:nvSpPr>
          <p:cNvPr id="5" name="Shape 3"/>
          <p:cNvSpPr/>
          <p:nvPr/>
        </p:nvSpPr>
        <p:spPr>
          <a:xfrm>
            <a:off x="661475" y="2361902"/>
            <a:ext cx="5249930" cy="9451"/>
          </a:xfrm>
          <a:prstGeom prst="rect">
            <a:avLst/>
          </a:prstGeom>
          <a:solidFill>
            <a:srgbClr val="000000">
              <a:alpha val="8000"/>
            </a:srgbClr>
          </a:solidFill>
          <a:ln/>
        </p:spPr>
      </p:sp>
      <p:sp>
        <p:nvSpPr>
          <p:cNvPr id="6" name="Shape 4"/>
          <p:cNvSpPr/>
          <p:nvPr/>
        </p:nvSpPr>
        <p:spPr>
          <a:xfrm>
            <a:off x="661475" y="2743696"/>
            <a:ext cx="5249930" cy="9451"/>
          </a:xfrm>
          <a:prstGeom prst="rect">
            <a:avLst/>
          </a:prstGeom>
          <a:solidFill>
            <a:srgbClr val="000000">
              <a:alpha val="8000"/>
            </a:srgbClr>
          </a:solidFill>
          <a:ln/>
        </p:spPr>
      </p:sp>
      <p:sp>
        <p:nvSpPr>
          <p:cNvPr id="7" name="Shape 5"/>
          <p:cNvSpPr/>
          <p:nvPr/>
        </p:nvSpPr>
        <p:spPr>
          <a:xfrm>
            <a:off x="661475" y="3125490"/>
            <a:ext cx="5249930" cy="9451"/>
          </a:xfrm>
          <a:prstGeom prst="rect">
            <a:avLst/>
          </a:prstGeom>
          <a:solidFill>
            <a:srgbClr val="000000">
              <a:alpha val="8000"/>
            </a:srgbClr>
          </a:solidFill>
          <a:ln/>
        </p:spPr>
      </p:sp>
      <p:sp>
        <p:nvSpPr>
          <p:cNvPr id="8" name="Shape 6"/>
          <p:cNvSpPr/>
          <p:nvPr/>
        </p:nvSpPr>
        <p:spPr>
          <a:xfrm>
            <a:off x="2762776" y="1595140"/>
            <a:ext cx="9451" cy="1915319"/>
          </a:xfrm>
          <a:prstGeom prst="rect">
            <a:avLst/>
          </a:prstGeom>
          <a:solidFill>
            <a:srgbClr val="000000">
              <a:alpha val="8000"/>
            </a:srgbClr>
          </a:solidFill>
          <a:ln/>
        </p:spPr>
      </p:sp>
      <p:sp>
        <p:nvSpPr>
          <p:cNvPr id="9" name="Text 7"/>
          <p:cNvSpPr/>
          <p:nvPr/>
        </p:nvSpPr>
        <p:spPr>
          <a:xfrm>
            <a:off x="819130" y="1680369"/>
            <a:ext cx="2398851" cy="217686"/>
          </a:xfrm>
          <a:prstGeom prst="rect">
            <a:avLst/>
          </a:prstGeom>
          <a:noFill/>
          <a:ln/>
        </p:spPr>
        <p:txBody>
          <a:bodyPr wrap="none" lIns="0" tIns="0" rIns="0" bIns="0" rtlCol="0" anchor="t"/>
          <a:lstStyle/>
          <a:p>
            <a:pPr marL="0" indent="0" algn="l">
              <a:lnSpc>
                <a:spcPct val="120000"/>
              </a:lnSpc>
              <a:buNone/>
            </a:pPr>
            <a:r>
              <a:rPr lang="en-US" sz="1400" b="1" dirty="0">
                <a:solidFill>
                  <a:srgbClr val="272525"/>
                </a:solidFill>
                <a:latin typeface="Inter Bold" pitchFamily="34" charset="0"/>
                <a:ea typeface="Inter Bold" pitchFamily="34" charset="-122"/>
                <a:cs typeface="Inter Bold" pitchFamily="34" charset="-120"/>
              </a:rPr>
              <a:t>Item</a:t>
            </a:r>
            <a:endParaRPr lang="en-US" sz="1400" dirty="0"/>
          </a:p>
        </p:txBody>
      </p:sp>
      <p:sp>
        <p:nvSpPr>
          <p:cNvPr id="10" name="Text 8"/>
          <p:cNvSpPr/>
          <p:nvPr/>
        </p:nvSpPr>
        <p:spPr>
          <a:xfrm>
            <a:off x="2917157" y="1680369"/>
            <a:ext cx="3446277" cy="217686"/>
          </a:xfrm>
          <a:prstGeom prst="rect">
            <a:avLst/>
          </a:prstGeom>
          <a:noFill/>
          <a:ln/>
        </p:spPr>
        <p:txBody>
          <a:bodyPr wrap="none" lIns="0" tIns="0" rIns="0" bIns="0" rtlCol="0" anchor="t"/>
          <a:lstStyle/>
          <a:p>
            <a:pPr marL="0" indent="0" algn="l">
              <a:lnSpc>
                <a:spcPct val="120000"/>
              </a:lnSpc>
              <a:buNone/>
            </a:pPr>
            <a:r>
              <a:rPr lang="en-US" sz="1400" b="1" dirty="0">
                <a:solidFill>
                  <a:srgbClr val="272525"/>
                </a:solidFill>
                <a:latin typeface="Inter Bold" pitchFamily="34" charset="0"/>
                <a:ea typeface="Inter Bold" pitchFamily="34" charset="-122"/>
                <a:cs typeface="Inter Bold" pitchFamily="34" charset="-120"/>
              </a:rPr>
              <a:t>Description</a:t>
            </a:r>
            <a:endParaRPr lang="en-US" sz="1400" dirty="0"/>
          </a:p>
        </p:txBody>
      </p:sp>
      <p:sp>
        <p:nvSpPr>
          <p:cNvPr id="11" name="Text 9"/>
          <p:cNvSpPr/>
          <p:nvPr/>
        </p:nvSpPr>
        <p:spPr>
          <a:xfrm>
            <a:off x="819130" y="2062163"/>
            <a:ext cx="2398851" cy="217686"/>
          </a:xfrm>
          <a:prstGeom prst="rect">
            <a:avLst/>
          </a:prstGeom>
          <a:noFill/>
          <a:ln/>
        </p:spPr>
        <p:txBody>
          <a:bodyPr wrap="none" lIns="0" tIns="0" rIns="0" bIns="0" rtlCol="0" anchor="t"/>
          <a:lstStyle/>
          <a:p>
            <a:pPr marL="0" indent="0" algn="l">
              <a:lnSpc>
                <a:spcPct val="120000"/>
              </a:lnSpc>
              <a:buNone/>
            </a:pPr>
            <a:r>
              <a:rPr lang="en-US" sz="1400" dirty="0">
                <a:solidFill>
                  <a:srgbClr val="272525"/>
                </a:solidFill>
                <a:latin typeface="Inter" pitchFamily="34" charset="0"/>
                <a:ea typeface="Inter" pitchFamily="34" charset="-122"/>
                <a:cs typeface="Inter" pitchFamily="34" charset="-120"/>
              </a:rPr>
              <a:t>Source</a:t>
            </a:r>
            <a:endParaRPr lang="en-US" sz="1400" dirty="0"/>
          </a:p>
        </p:txBody>
      </p:sp>
      <p:sp>
        <p:nvSpPr>
          <p:cNvPr id="12" name="Text 10"/>
          <p:cNvSpPr/>
          <p:nvPr/>
        </p:nvSpPr>
        <p:spPr>
          <a:xfrm>
            <a:off x="2917157" y="2062163"/>
            <a:ext cx="3446277" cy="217686"/>
          </a:xfrm>
          <a:prstGeom prst="rect">
            <a:avLst/>
          </a:prstGeom>
          <a:noFill/>
          <a:ln/>
        </p:spPr>
        <p:txBody>
          <a:bodyPr wrap="none" lIns="0" tIns="0" rIns="0" bIns="0" rtlCol="0" anchor="t"/>
          <a:lstStyle/>
          <a:p>
            <a:pPr marL="0" indent="0" algn="l">
              <a:lnSpc>
                <a:spcPct val="120000"/>
              </a:lnSpc>
              <a:buNone/>
            </a:pPr>
            <a:r>
              <a:rPr lang="en-US" sz="1400" dirty="0">
                <a:solidFill>
                  <a:srgbClr val="272525"/>
                </a:solidFill>
                <a:latin typeface="Inter" pitchFamily="34" charset="0"/>
                <a:ea typeface="Inter" pitchFamily="34" charset="-122"/>
                <a:cs typeface="Inter" pitchFamily="34" charset="-120"/>
              </a:rPr>
              <a:t>Excel Dataset</a:t>
            </a:r>
            <a:endParaRPr lang="en-US" sz="1400" dirty="0"/>
          </a:p>
        </p:txBody>
      </p:sp>
      <p:sp>
        <p:nvSpPr>
          <p:cNvPr id="13" name="Text 11"/>
          <p:cNvSpPr/>
          <p:nvPr/>
        </p:nvSpPr>
        <p:spPr>
          <a:xfrm>
            <a:off x="819130" y="2443956"/>
            <a:ext cx="2398851" cy="217686"/>
          </a:xfrm>
          <a:prstGeom prst="rect">
            <a:avLst/>
          </a:prstGeom>
          <a:noFill/>
          <a:ln/>
        </p:spPr>
        <p:txBody>
          <a:bodyPr wrap="none" lIns="0" tIns="0" rIns="0" bIns="0" rtlCol="0" anchor="t"/>
          <a:lstStyle/>
          <a:p>
            <a:pPr marL="0" indent="0" algn="l">
              <a:lnSpc>
                <a:spcPct val="120000"/>
              </a:lnSpc>
              <a:buNone/>
            </a:pPr>
            <a:r>
              <a:rPr lang="en-US" sz="1400" dirty="0">
                <a:solidFill>
                  <a:srgbClr val="272525"/>
                </a:solidFill>
                <a:latin typeface="Inter" pitchFamily="34" charset="0"/>
                <a:ea typeface="Inter" pitchFamily="34" charset="-122"/>
                <a:cs typeface="Inter" pitchFamily="34" charset="-120"/>
              </a:rPr>
              <a:t>Total Transactions</a:t>
            </a:r>
            <a:endParaRPr lang="en-US" sz="1400" dirty="0"/>
          </a:p>
        </p:txBody>
      </p:sp>
      <p:sp>
        <p:nvSpPr>
          <p:cNvPr id="14" name="Text 12"/>
          <p:cNvSpPr/>
          <p:nvPr/>
        </p:nvSpPr>
        <p:spPr>
          <a:xfrm>
            <a:off x="2917157" y="2443956"/>
            <a:ext cx="3446277" cy="217686"/>
          </a:xfrm>
          <a:prstGeom prst="rect">
            <a:avLst/>
          </a:prstGeom>
          <a:noFill/>
          <a:ln/>
        </p:spPr>
        <p:txBody>
          <a:bodyPr wrap="none" lIns="0" tIns="0" rIns="0" bIns="0" rtlCol="0" anchor="t"/>
          <a:lstStyle/>
          <a:p>
            <a:pPr marL="0" indent="0" algn="l">
              <a:lnSpc>
                <a:spcPct val="120000"/>
              </a:lnSpc>
              <a:buNone/>
            </a:pPr>
            <a:r>
              <a:rPr lang="en-US" sz="1400" dirty="0">
                <a:solidFill>
                  <a:srgbClr val="272525"/>
                </a:solidFill>
                <a:latin typeface="Inter" pitchFamily="34" charset="0"/>
                <a:ea typeface="Inter" pitchFamily="34" charset="-122"/>
                <a:cs typeface="Inter" pitchFamily="34" charset="-120"/>
              </a:rPr>
              <a:t>3,835</a:t>
            </a:r>
            <a:endParaRPr lang="en-US" sz="1400" dirty="0"/>
          </a:p>
        </p:txBody>
      </p:sp>
      <p:sp>
        <p:nvSpPr>
          <p:cNvPr id="15" name="Text 13"/>
          <p:cNvSpPr/>
          <p:nvPr/>
        </p:nvSpPr>
        <p:spPr>
          <a:xfrm>
            <a:off x="819130" y="2825750"/>
            <a:ext cx="2398851" cy="217686"/>
          </a:xfrm>
          <a:prstGeom prst="rect">
            <a:avLst/>
          </a:prstGeom>
          <a:noFill/>
          <a:ln/>
        </p:spPr>
        <p:txBody>
          <a:bodyPr wrap="none" lIns="0" tIns="0" rIns="0" bIns="0" rtlCol="0" anchor="t"/>
          <a:lstStyle/>
          <a:p>
            <a:pPr marL="0" indent="0" algn="l">
              <a:lnSpc>
                <a:spcPct val="120000"/>
              </a:lnSpc>
              <a:buNone/>
            </a:pPr>
            <a:r>
              <a:rPr lang="en-US" sz="1400" dirty="0">
                <a:solidFill>
                  <a:srgbClr val="272525"/>
                </a:solidFill>
                <a:latin typeface="Inter" pitchFamily="34" charset="0"/>
                <a:ea typeface="Inter" pitchFamily="34" charset="-122"/>
                <a:cs typeface="Inter" pitchFamily="34" charset="-120"/>
              </a:rPr>
              <a:t>Analysis Period</a:t>
            </a:r>
            <a:endParaRPr lang="en-US" sz="1400" dirty="0"/>
          </a:p>
        </p:txBody>
      </p:sp>
      <p:sp>
        <p:nvSpPr>
          <p:cNvPr id="16" name="Text 14"/>
          <p:cNvSpPr/>
          <p:nvPr/>
        </p:nvSpPr>
        <p:spPr>
          <a:xfrm>
            <a:off x="2917157" y="2825750"/>
            <a:ext cx="3446277" cy="217686"/>
          </a:xfrm>
          <a:prstGeom prst="rect">
            <a:avLst/>
          </a:prstGeom>
          <a:noFill/>
          <a:ln/>
        </p:spPr>
        <p:txBody>
          <a:bodyPr wrap="none" lIns="0" tIns="0" rIns="0" bIns="0" rtlCol="0" anchor="t"/>
          <a:lstStyle/>
          <a:p>
            <a:pPr marL="0" indent="0" algn="l">
              <a:lnSpc>
                <a:spcPct val="120000"/>
              </a:lnSpc>
              <a:buNone/>
            </a:pPr>
            <a:r>
              <a:rPr lang="en-US" sz="1400" dirty="0">
                <a:solidFill>
                  <a:srgbClr val="272525"/>
                </a:solidFill>
                <a:latin typeface="Inter" pitchFamily="34" charset="0"/>
                <a:ea typeface="Inter" pitchFamily="34" charset="-122"/>
                <a:cs typeface="Inter" pitchFamily="34" charset="-120"/>
              </a:rPr>
              <a:t>2021–2024</a:t>
            </a:r>
            <a:endParaRPr lang="en-US" sz="1400" dirty="0"/>
          </a:p>
        </p:txBody>
      </p:sp>
      <p:sp>
        <p:nvSpPr>
          <p:cNvPr id="17" name="Text 15"/>
          <p:cNvSpPr/>
          <p:nvPr/>
        </p:nvSpPr>
        <p:spPr>
          <a:xfrm>
            <a:off x="819130" y="3207544"/>
            <a:ext cx="2398851" cy="217686"/>
          </a:xfrm>
          <a:prstGeom prst="rect">
            <a:avLst/>
          </a:prstGeom>
          <a:noFill/>
          <a:ln/>
        </p:spPr>
        <p:txBody>
          <a:bodyPr wrap="none" lIns="0" tIns="0" rIns="0" bIns="0" rtlCol="0" anchor="t"/>
          <a:lstStyle/>
          <a:p>
            <a:pPr marL="0" indent="0" algn="l">
              <a:lnSpc>
                <a:spcPct val="120000"/>
              </a:lnSpc>
              <a:buNone/>
            </a:pPr>
            <a:r>
              <a:rPr lang="en-US" sz="1400" dirty="0">
                <a:solidFill>
                  <a:srgbClr val="272525"/>
                </a:solidFill>
                <a:latin typeface="Inter" pitchFamily="34" charset="0"/>
                <a:ea typeface="Inter" pitchFamily="34" charset="-122"/>
                <a:cs typeface="Inter" pitchFamily="34" charset="-120"/>
              </a:rPr>
              <a:t>Dashboard Pages</a:t>
            </a:r>
            <a:endParaRPr lang="en-US" sz="1400" dirty="0"/>
          </a:p>
        </p:txBody>
      </p:sp>
      <p:sp>
        <p:nvSpPr>
          <p:cNvPr id="18" name="Text 16"/>
          <p:cNvSpPr/>
          <p:nvPr/>
        </p:nvSpPr>
        <p:spPr>
          <a:xfrm>
            <a:off x="2917157" y="3207544"/>
            <a:ext cx="3446277" cy="217686"/>
          </a:xfrm>
          <a:prstGeom prst="rect">
            <a:avLst/>
          </a:prstGeom>
          <a:noFill/>
          <a:ln/>
        </p:spPr>
        <p:txBody>
          <a:bodyPr wrap="none" lIns="0" tIns="0" rIns="0" bIns="0" rtlCol="0" anchor="t"/>
          <a:lstStyle/>
          <a:p>
            <a:pPr marL="0" indent="0" algn="l">
              <a:lnSpc>
                <a:spcPct val="120000"/>
              </a:lnSpc>
              <a:buNone/>
            </a:pPr>
            <a:r>
              <a:rPr lang="en-US" sz="1400" dirty="0">
                <a:solidFill>
                  <a:srgbClr val="272525"/>
                </a:solidFill>
                <a:latin typeface="Inter" pitchFamily="34" charset="0"/>
                <a:ea typeface="Inter" pitchFamily="34" charset="-122"/>
                <a:cs typeface="Inter" pitchFamily="34" charset="-120"/>
              </a:rPr>
              <a:t>3</a:t>
            </a:r>
            <a:endParaRPr lang="en-US" sz="1400" dirty="0"/>
          </a:p>
        </p:txBody>
      </p:sp>
      <p:sp>
        <p:nvSpPr>
          <p:cNvPr id="19" name="Text 17"/>
          <p:cNvSpPr/>
          <p:nvPr/>
        </p:nvSpPr>
        <p:spPr>
          <a:xfrm>
            <a:off x="7096723" y="1291039"/>
            <a:ext cx="1858531" cy="299778"/>
          </a:xfrm>
          <a:prstGeom prst="rect">
            <a:avLst/>
          </a:prstGeom>
          <a:noFill/>
          <a:ln/>
        </p:spPr>
        <p:txBody>
          <a:bodyPr wrap="none" lIns="0" tIns="0" rIns="0" bIns="0" rtlCol="0" anchor="t"/>
          <a:lstStyle/>
          <a:p>
            <a:pPr marL="0" indent="0" algn="l">
              <a:lnSpc>
                <a:spcPct val="120000"/>
              </a:lnSpc>
              <a:buNone/>
            </a:pPr>
            <a:r>
              <a:rPr lang="en-US" sz="1400" b="1" dirty="0">
                <a:solidFill>
                  <a:srgbClr val="272525"/>
                </a:solidFill>
                <a:latin typeface="Inter Bold" panose="020B0604020202020204" charset="0"/>
                <a:ea typeface="Inter Bold" panose="020B0604020202020204" charset="0"/>
                <a:cs typeface="Inter" pitchFamily="34" charset="-120"/>
              </a:rPr>
              <a:t>Dataset Includes:</a:t>
            </a:r>
            <a:endParaRPr lang="en-US" sz="1400" b="1" dirty="0">
              <a:latin typeface="Inter Bold" panose="020B0604020202020204" charset="0"/>
              <a:ea typeface="Inter Bold" panose="020B0604020202020204" charset="0"/>
            </a:endParaRPr>
          </a:p>
        </p:txBody>
      </p:sp>
      <p:sp>
        <p:nvSpPr>
          <p:cNvPr id="20" name="Text 18"/>
          <p:cNvSpPr/>
          <p:nvPr/>
        </p:nvSpPr>
        <p:spPr>
          <a:xfrm>
            <a:off x="7115263" y="1525684"/>
            <a:ext cx="3014054" cy="1836544"/>
          </a:xfrm>
          <a:prstGeom prst="rect">
            <a:avLst/>
          </a:prstGeom>
          <a:noFill/>
          <a:ln/>
        </p:spPr>
        <p:txBody>
          <a:bodyPr wrap="square" lIns="0" tIns="0" rIns="0" bIns="0" rtlCol="0" anchor="t">
            <a:noAutofit/>
          </a:bodyPr>
          <a:lstStyle/>
          <a:p>
            <a:pPr marL="233680" indent="-233680" algn="l">
              <a:lnSpc>
                <a:spcPct val="120000"/>
              </a:lnSpc>
              <a:buSzPct val="100000"/>
              <a:buChar char="•"/>
            </a:pPr>
            <a:r>
              <a:rPr lang="en-US" sz="1400" dirty="0">
                <a:solidFill>
                  <a:srgbClr val="272525"/>
                </a:solidFill>
                <a:latin typeface="Inter" pitchFamily="34" charset="0"/>
                <a:ea typeface="Inter" pitchFamily="34" charset="-122"/>
                <a:cs typeface="Inter" pitchFamily="34" charset="-120"/>
              </a:rPr>
              <a:t>Brand</a:t>
            </a:r>
            <a:endParaRPr lang="en-US" sz="1400" dirty="0"/>
          </a:p>
          <a:p>
            <a:pPr marL="233680" indent="-233680" algn="l">
              <a:lnSpc>
                <a:spcPct val="120000"/>
              </a:lnSpc>
              <a:buSzPct val="100000"/>
              <a:buChar char="•"/>
            </a:pPr>
            <a:r>
              <a:rPr lang="en-US" sz="1400" dirty="0">
                <a:solidFill>
                  <a:srgbClr val="272525"/>
                </a:solidFill>
                <a:latin typeface="Inter" pitchFamily="34" charset="0"/>
                <a:ea typeface="Inter" pitchFamily="34" charset="-122"/>
                <a:cs typeface="Inter" pitchFamily="34" charset="-120"/>
              </a:rPr>
              <a:t>Mobile Model</a:t>
            </a:r>
            <a:endParaRPr lang="en-US" sz="1400" dirty="0"/>
          </a:p>
          <a:p>
            <a:pPr marL="233680" indent="-233680" algn="l">
              <a:lnSpc>
                <a:spcPct val="120000"/>
              </a:lnSpc>
              <a:buSzPct val="100000"/>
              <a:buChar char="•"/>
            </a:pPr>
            <a:r>
              <a:rPr lang="en-US" sz="1400" dirty="0">
                <a:solidFill>
                  <a:srgbClr val="272525"/>
                </a:solidFill>
                <a:latin typeface="Inter" pitchFamily="34" charset="0"/>
                <a:ea typeface="Inter" pitchFamily="34" charset="-122"/>
                <a:cs typeface="Inter" pitchFamily="34" charset="-120"/>
              </a:rPr>
              <a:t>City</a:t>
            </a:r>
            <a:endParaRPr lang="en-US" sz="1400" dirty="0"/>
          </a:p>
          <a:p>
            <a:pPr marL="233680" indent="-233680" algn="l">
              <a:lnSpc>
                <a:spcPct val="120000"/>
              </a:lnSpc>
              <a:buSzPct val="100000"/>
              <a:buChar char="•"/>
            </a:pPr>
            <a:r>
              <a:rPr lang="en-US" sz="1400" dirty="0">
                <a:solidFill>
                  <a:srgbClr val="272525"/>
                </a:solidFill>
                <a:latin typeface="Inter" pitchFamily="34" charset="0"/>
                <a:ea typeface="Inter" pitchFamily="34" charset="-122"/>
                <a:cs typeface="Inter" pitchFamily="34" charset="-120"/>
              </a:rPr>
              <a:t>Total Sales</a:t>
            </a:r>
            <a:endParaRPr lang="en-US" sz="1400" dirty="0"/>
          </a:p>
          <a:p>
            <a:pPr marL="233680" indent="-233680" algn="l">
              <a:lnSpc>
                <a:spcPct val="120000"/>
              </a:lnSpc>
              <a:buSzPct val="100000"/>
              <a:buChar char="•"/>
            </a:pPr>
            <a:r>
              <a:rPr lang="en-US" sz="1400" dirty="0">
                <a:solidFill>
                  <a:srgbClr val="272525"/>
                </a:solidFill>
                <a:latin typeface="Inter" pitchFamily="34" charset="0"/>
                <a:ea typeface="Inter" pitchFamily="34" charset="-122"/>
                <a:cs typeface="Inter" pitchFamily="34" charset="-120"/>
              </a:rPr>
              <a:t>Units Sold</a:t>
            </a:r>
            <a:endParaRPr lang="en-US" sz="1400" dirty="0"/>
          </a:p>
          <a:p>
            <a:pPr marL="233680" indent="-233680" algn="l">
              <a:lnSpc>
                <a:spcPct val="120000"/>
              </a:lnSpc>
              <a:buSzPct val="100000"/>
              <a:buChar char="•"/>
            </a:pPr>
            <a:r>
              <a:rPr lang="en-US" sz="1400" dirty="0">
                <a:solidFill>
                  <a:srgbClr val="272525"/>
                </a:solidFill>
                <a:latin typeface="Inter" pitchFamily="34" charset="0"/>
                <a:ea typeface="Inter" pitchFamily="34" charset="-122"/>
                <a:cs typeface="Inter" pitchFamily="34" charset="-120"/>
              </a:rPr>
              <a:t>Customer Rating</a:t>
            </a:r>
            <a:endParaRPr lang="en-US" sz="1400" dirty="0"/>
          </a:p>
          <a:p>
            <a:pPr marL="233680" indent="-233680" algn="l">
              <a:lnSpc>
                <a:spcPct val="120000"/>
              </a:lnSpc>
              <a:buSzPct val="100000"/>
              <a:buChar char="•"/>
            </a:pPr>
            <a:r>
              <a:rPr lang="en-US" sz="1400" dirty="0">
                <a:solidFill>
                  <a:srgbClr val="272525"/>
                </a:solidFill>
                <a:latin typeface="Inter" pitchFamily="34" charset="0"/>
                <a:ea typeface="Inter" pitchFamily="34" charset="-122"/>
                <a:cs typeface="Inter" pitchFamily="34" charset="-120"/>
              </a:rPr>
              <a:t>Payment Method</a:t>
            </a:r>
            <a:endParaRPr lang="en-US" sz="1400" dirty="0"/>
          </a:p>
          <a:p>
            <a:pPr marL="233680" indent="-233680" algn="l">
              <a:lnSpc>
                <a:spcPct val="120000"/>
              </a:lnSpc>
              <a:buSzPct val="100000"/>
              <a:buChar char="•"/>
            </a:pPr>
            <a:r>
              <a:rPr lang="en-US" sz="1400" dirty="0">
                <a:solidFill>
                  <a:srgbClr val="272525"/>
                </a:solidFill>
                <a:latin typeface="Inter" pitchFamily="34" charset="0"/>
                <a:ea typeface="Inter" pitchFamily="34" charset="-122"/>
                <a:cs typeface="Inter" pitchFamily="34" charset="-120"/>
              </a:rPr>
              <a:t>Transaction Date</a:t>
            </a:r>
            <a:endParaRPr lang="en-US" sz="1400" dirty="0"/>
          </a:p>
        </p:txBody>
      </p:sp>
      <p:sp>
        <p:nvSpPr>
          <p:cNvPr id="24" name="Rectangle 23">
            <a:extLst>
              <a:ext uri="{FF2B5EF4-FFF2-40B4-BE49-F238E27FC236}">
                <a16:creationId xmlns:a16="http://schemas.microsoft.com/office/drawing/2014/main" id="{21D54C98-E94B-44C0-AB56-3BB80597BFD3}"/>
              </a:ext>
            </a:extLst>
          </p:cNvPr>
          <p:cNvSpPr/>
          <p:nvPr/>
        </p:nvSpPr>
        <p:spPr>
          <a:xfrm>
            <a:off x="11080376" y="6544235"/>
            <a:ext cx="1048871" cy="3024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p>
        </p:txBody>
      </p:sp>
      <p:pic>
        <p:nvPicPr>
          <p:cNvPr id="23" name="Picture 22">
            <a:extLst>
              <a:ext uri="{FF2B5EF4-FFF2-40B4-BE49-F238E27FC236}">
                <a16:creationId xmlns:a16="http://schemas.microsoft.com/office/drawing/2014/main" id="{17DC8774-0846-4AFD-B53D-399A9497CC8E}"/>
              </a:ext>
            </a:extLst>
          </p:cNvPr>
          <p:cNvPicPr>
            <a:picLocks noChangeAspect="1"/>
          </p:cNvPicPr>
          <p:nvPr/>
        </p:nvPicPr>
        <p:blipFill>
          <a:blip r:embed="rId3"/>
          <a:stretch>
            <a:fillRect/>
          </a:stretch>
        </p:blipFill>
        <p:spPr>
          <a:xfrm>
            <a:off x="2018555" y="3629950"/>
            <a:ext cx="7860231" cy="3095361"/>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22883"/>
            <a:ext cx="10868745" cy="383977"/>
          </a:xfrm>
          <a:prstGeom prst="rect">
            <a:avLst/>
          </a:prstGeom>
          <a:noFill/>
          <a:ln/>
        </p:spPr>
        <p:txBody>
          <a:bodyPr wrap="none" lIns="0" tIns="0" rIns="0" bIns="0" rtlCol="0" anchor="t"/>
          <a:lstStyle/>
          <a:p>
            <a:pPr marL="0" indent="0" algn="l">
              <a:lnSpc>
                <a:spcPct val="104000"/>
              </a:lnSpc>
              <a:buNone/>
            </a:pPr>
            <a:r>
              <a:rPr lang="en-US" sz="3200" b="1" dirty="0">
                <a:solidFill>
                  <a:srgbClr val="000000"/>
                </a:solidFill>
                <a:latin typeface="Inter Bold" pitchFamily="34" charset="0"/>
                <a:ea typeface="Inter Bold" pitchFamily="34" charset="-122"/>
                <a:cs typeface="Inter Bold" pitchFamily="34" charset="-120"/>
              </a:rPr>
              <a:t>DAX Measures Used</a:t>
            </a:r>
            <a:endParaRPr lang="en-US" sz="3200" dirty="0"/>
          </a:p>
        </p:txBody>
      </p:sp>
      <p:sp>
        <p:nvSpPr>
          <p:cNvPr id="3" name="Text 1"/>
          <p:cNvSpPr/>
          <p:nvPr/>
        </p:nvSpPr>
        <p:spPr>
          <a:xfrm>
            <a:off x="650917" y="1300630"/>
            <a:ext cx="11478330" cy="162123"/>
          </a:xfrm>
          <a:prstGeom prst="rect">
            <a:avLst/>
          </a:prstGeom>
          <a:noFill/>
          <a:ln/>
        </p:spPr>
        <p:txBody>
          <a:bodyPr wrap="none" lIns="0" tIns="0" rIns="0" bIns="0" rtlCol="0" anchor="t"/>
          <a:lstStyle/>
          <a:p>
            <a:pPr marL="0" indent="0" algn="l">
              <a:lnSpc>
                <a:spcPct val="110000"/>
              </a:lnSpc>
              <a:buNone/>
            </a:pPr>
            <a:r>
              <a:rPr lang="en-US" sz="1400" dirty="0">
                <a:solidFill>
                  <a:srgbClr val="272525"/>
                </a:solidFill>
                <a:latin typeface="Inter" pitchFamily="34" charset="0"/>
                <a:ea typeface="Inter" pitchFamily="34" charset="-122"/>
                <a:cs typeface="Inter" pitchFamily="34" charset="-120"/>
              </a:rPr>
              <a:t>The dashboard uses DAX measures to calculate KPIs and perform Time Intelligence analysis.</a:t>
            </a:r>
            <a:endParaRPr lang="en-US" sz="1400" dirty="0"/>
          </a:p>
        </p:txBody>
      </p:sp>
      <p:sp>
        <p:nvSpPr>
          <p:cNvPr id="4" name="Text 2"/>
          <p:cNvSpPr/>
          <p:nvPr/>
        </p:nvSpPr>
        <p:spPr>
          <a:xfrm>
            <a:off x="650271" y="1745010"/>
            <a:ext cx="3422763" cy="191988"/>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KPI Measures</a:t>
            </a:r>
            <a:endParaRPr lang="en-US" sz="1600" dirty="0"/>
          </a:p>
        </p:txBody>
      </p:sp>
      <p:sp>
        <p:nvSpPr>
          <p:cNvPr id="5" name="Text 3"/>
          <p:cNvSpPr/>
          <p:nvPr/>
        </p:nvSpPr>
        <p:spPr>
          <a:xfrm>
            <a:off x="661475" y="2243692"/>
            <a:ext cx="3422763" cy="714661"/>
          </a:xfrm>
          <a:prstGeom prst="rect">
            <a:avLst/>
          </a:prstGeom>
          <a:noFill/>
          <a:ln/>
        </p:spPr>
        <p:txBody>
          <a:bodyPr wrap="square" lIns="0" tIns="0" rIns="0" bIns="0" rtlCol="0" anchor="t">
            <a:noAutofit/>
          </a:bodyPr>
          <a:lstStyle/>
          <a:p>
            <a:pPr marL="193040" indent="-193040" algn="l">
              <a:lnSpc>
                <a:spcPct val="110000"/>
              </a:lnSpc>
              <a:buSzPct val="100000"/>
              <a:buChar char="•"/>
            </a:pPr>
            <a:r>
              <a:rPr lang="en-US" sz="1400" dirty="0">
                <a:solidFill>
                  <a:srgbClr val="000000"/>
                </a:solidFill>
                <a:latin typeface="Inter" pitchFamily="34" charset="0"/>
                <a:ea typeface="Inter" pitchFamily="34" charset="-122"/>
                <a:cs typeface="Inter" pitchFamily="34" charset="-120"/>
              </a:rPr>
              <a:t>✔</a:t>
            </a:r>
            <a:r>
              <a:rPr lang="en-US" sz="1400" dirty="0">
                <a:solidFill>
                  <a:srgbClr val="272525"/>
                </a:solidFill>
                <a:latin typeface="Inter" pitchFamily="34" charset="0"/>
                <a:ea typeface="Inter" pitchFamily="34" charset="-122"/>
                <a:cs typeface="Inter" pitchFamily="34" charset="-120"/>
              </a:rPr>
              <a:t> Total Sales</a:t>
            </a:r>
            <a:endParaRPr lang="en-US" sz="1400" dirty="0"/>
          </a:p>
          <a:p>
            <a:pPr marL="193040" indent="-193040" algn="l">
              <a:lnSpc>
                <a:spcPct val="110000"/>
              </a:lnSpc>
              <a:buSzPct val="100000"/>
              <a:buChar char="•"/>
            </a:pPr>
            <a:r>
              <a:rPr lang="en-US" sz="1400" dirty="0">
                <a:solidFill>
                  <a:srgbClr val="000000"/>
                </a:solidFill>
                <a:latin typeface="Inter" pitchFamily="34" charset="0"/>
                <a:ea typeface="Inter" pitchFamily="34" charset="-122"/>
                <a:cs typeface="Inter" pitchFamily="34" charset="-120"/>
              </a:rPr>
              <a:t>✔</a:t>
            </a:r>
            <a:r>
              <a:rPr lang="en-US" sz="1400" dirty="0">
                <a:solidFill>
                  <a:srgbClr val="272525"/>
                </a:solidFill>
                <a:latin typeface="Inter" pitchFamily="34" charset="0"/>
                <a:ea typeface="Inter" pitchFamily="34" charset="-122"/>
                <a:cs typeface="Inter" pitchFamily="34" charset="-120"/>
              </a:rPr>
              <a:t> Total Quantity</a:t>
            </a:r>
            <a:endParaRPr lang="en-US" sz="1400" dirty="0"/>
          </a:p>
          <a:p>
            <a:pPr marL="193040" indent="-193040" algn="l">
              <a:lnSpc>
                <a:spcPct val="110000"/>
              </a:lnSpc>
              <a:buSzPct val="100000"/>
              <a:buChar char="•"/>
            </a:pPr>
            <a:r>
              <a:rPr lang="en-US" sz="1400" dirty="0">
                <a:solidFill>
                  <a:srgbClr val="000000"/>
                </a:solidFill>
                <a:latin typeface="Inter" pitchFamily="34" charset="0"/>
                <a:ea typeface="Inter" pitchFamily="34" charset="-122"/>
                <a:cs typeface="Inter" pitchFamily="34" charset="-120"/>
              </a:rPr>
              <a:t>✔</a:t>
            </a:r>
            <a:r>
              <a:rPr lang="en-US" sz="1400" dirty="0">
                <a:solidFill>
                  <a:srgbClr val="272525"/>
                </a:solidFill>
                <a:latin typeface="Inter" pitchFamily="34" charset="0"/>
                <a:ea typeface="Inter" pitchFamily="34" charset="-122"/>
                <a:cs typeface="Inter" pitchFamily="34" charset="-120"/>
              </a:rPr>
              <a:t> Total Transaction</a:t>
            </a:r>
            <a:endParaRPr lang="en-US" sz="1400" dirty="0"/>
          </a:p>
        </p:txBody>
      </p:sp>
      <p:sp>
        <p:nvSpPr>
          <p:cNvPr id="6" name="Text 4"/>
          <p:cNvSpPr/>
          <p:nvPr/>
        </p:nvSpPr>
        <p:spPr>
          <a:xfrm>
            <a:off x="4390221" y="1776115"/>
            <a:ext cx="3422763" cy="191988"/>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Time Intelligence</a:t>
            </a:r>
            <a:endParaRPr lang="en-US" sz="1600" dirty="0"/>
          </a:p>
        </p:txBody>
      </p:sp>
      <p:sp>
        <p:nvSpPr>
          <p:cNvPr id="7" name="Text 5"/>
          <p:cNvSpPr/>
          <p:nvPr/>
        </p:nvSpPr>
        <p:spPr>
          <a:xfrm>
            <a:off x="4384465" y="2261622"/>
            <a:ext cx="3422763" cy="589155"/>
          </a:xfrm>
          <a:prstGeom prst="rect">
            <a:avLst/>
          </a:prstGeom>
          <a:noFill/>
          <a:ln/>
        </p:spPr>
        <p:txBody>
          <a:bodyPr wrap="square" lIns="0" tIns="0" rIns="0" bIns="0" rtlCol="0" anchor="t">
            <a:noAutofit/>
          </a:bodyPr>
          <a:lstStyle/>
          <a:p>
            <a:pPr marL="193040" indent="-193040" algn="l">
              <a:lnSpc>
                <a:spcPct val="110000"/>
              </a:lnSpc>
              <a:buSzPct val="100000"/>
              <a:buChar char="•"/>
            </a:pPr>
            <a:r>
              <a:rPr lang="en-US" sz="1400" dirty="0">
                <a:solidFill>
                  <a:srgbClr val="000000"/>
                </a:solidFill>
                <a:latin typeface="Inter" pitchFamily="34" charset="0"/>
                <a:ea typeface="Inter" pitchFamily="34" charset="-122"/>
                <a:cs typeface="Inter" pitchFamily="34" charset="-120"/>
              </a:rPr>
              <a:t>✔</a:t>
            </a:r>
            <a:r>
              <a:rPr lang="en-US" sz="1400" dirty="0">
                <a:solidFill>
                  <a:srgbClr val="272525"/>
                </a:solidFill>
                <a:latin typeface="Inter" pitchFamily="34" charset="0"/>
                <a:ea typeface="Inter" pitchFamily="34" charset="-122"/>
                <a:cs typeface="Inter" pitchFamily="34" charset="-120"/>
              </a:rPr>
              <a:t> MTD</a:t>
            </a:r>
            <a:endParaRPr lang="en-US" sz="1400" dirty="0"/>
          </a:p>
          <a:p>
            <a:pPr marL="193040" indent="-193040" algn="l">
              <a:lnSpc>
                <a:spcPct val="110000"/>
              </a:lnSpc>
              <a:buSzPct val="100000"/>
              <a:buChar char="•"/>
            </a:pPr>
            <a:r>
              <a:rPr lang="en-US" sz="1400" dirty="0">
                <a:solidFill>
                  <a:srgbClr val="000000"/>
                </a:solidFill>
                <a:latin typeface="Inter" pitchFamily="34" charset="0"/>
                <a:ea typeface="Inter" pitchFamily="34" charset="-122"/>
                <a:cs typeface="Inter" pitchFamily="34" charset="-120"/>
              </a:rPr>
              <a:t>✔</a:t>
            </a:r>
            <a:r>
              <a:rPr lang="en-US" sz="1400" dirty="0">
                <a:solidFill>
                  <a:srgbClr val="272525"/>
                </a:solidFill>
                <a:latin typeface="Inter" pitchFamily="34" charset="0"/>
                <a:ea typeface="Inter" pitchFamily="34" charset="-122"/>
                <a:cs typeface="Inter" pitchFamily="34" charset="-120"/>
              </a:rPr>
              <a:t> Same Period Last Year</a:t>
            </a:r>
            <a:endParaRPr lang="en-US" sz="1400" dirty="0"/>
          </a:p>
        </p:txBody>
      </p:sp>
      <p:sp>
        <p:nvSpPr>
          <p:cNvPr id="8" name="Text 6"/>
          <p:cNvSpPr/>
          <p:nvPr/>
        </p:nvSpPr>
        <p:spPr>
          <a:xfrm>
            <a:off x="8118966" y="1794769"/>
            <a:ext cx="3422763" cy="191988"/>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Conditional Logic</a:t>
            </a:r>
            <a:endParaRPr lang="en-US" sz="1600" dirty="0"/>
          </a:p>
        </p:txBody>
      </p:sp>
      <p:sp>
        <p:nvSpPr>
          <p:cNvPr id="9" name="Text 7"/>
          <p:cNvSpPr/>
          <p:nvPr/>
        </p:nvSpPr>
        <p:spPr>
          <a:xfrm>
            <a:off x="8118966" y="2212528"/>
            <a:ext cx="4032348" cy="162123"/>
          </a:xfrm>
          <a:prstGeom prst="rect">
            <a:avLst/>
          </a:prstGeom>
          <a:noFill/>
          <a:ln/>
        </p:spPr>
        <p:txBody>
          <a:bodyPr wrap="none" lIns="0" tIns="0" rIns="0" bIns="0" rtlCol="0" anchor="t"/>
          <a:lstStyle/>
          <a:p>
            <a:pPr marL="193040" indent="-193040" algn="l">
              <a:lnSpc>
                <a:spcPct val="110000"/>
              </a:lnSpc>
              <a:buSzPct val="100000"/>
              <a:buChar char="•"/>
            </a:pPr>
            <a:r>
              <a:rPr lang="en-US" sz="1400" dirty="0">
                <a:solidFill>
                  <a:srgbClr val="000000"/>
                </a:solidFill>
                <a:latin typeface="Inter" pitchFamily="34" charset="0"/>
                <a:ea typeface="Inter" pitchFamily="34" charset="-122"/>
                <a:cs typeface="Inter" pitchFamily="34" charset="-120"/>
              </a:rPr>
              <a:t>✔</a:t>
            </a:r>
            <a:r>
              <a:rPr lang="en-US" sz="1400" dirty="0">
                <a:solidFill>
                  <a:srgbClr val="272525"/>
                </a:solidFill>
                <a:latin typeface="Inter" pitchFamily="34" charset="0"/>
                <a:ea typeface="Inter" pitchFamily="34" charset="-122"/>
                <a:cs typeface="Inter" pitchFamily="34" charset="-120"/>
              </a:rPr>
              <a:t> Rating Status</a:t>
            </a:r>
            <a:endParaRPr lang="en-US" sz="1400" dirty="0"/>
          </a:p>
        </p:txBody>
      </p:sp>
      <p:sp>
        <p:nvSpPr>
          <p:cNvPr id="14" name="Rectangle 13">
            <a:extLst>
              <a:ext uri="{FF2B5EF4-FFF2-40B4-BE49-F238E27FC236}">
                <a16:creationId xmlns:a16="http://schemas.microsoft.com/office/drawing/2014/main" id="{D14D3CC4-C92C-4099-861C-2EF2EAA95DE6}"/>
              </a:ext>
            </a:extLst>
          </p:cNvPr>
          <p:cNvSpPr/>
          <p:nvPr/>
        </p:nvSpPr>
        <p:spPr>
          <a:xfrm>
            <a:off x="11080376" y="6544235"/>
            <a:ext cx="1048871" cy="3024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8" name="Picture 17">
            <a:extLst>
              <a:ext uri="{FF2B5EF4-FFF2-40B4-BE49-F238E27FC236}">
                <a16:creationId xmlns:a16="http://schemas.microsoft.com/office/drawing/2014/main" id="{FB9DE94A-B602-4E4A-9108-49CA19BB1FD3}"/>
              </a:ext>
            </a:extLst>
          </p:cNvPr>
          <p:cNvPicPr>
            <a:picLocks noChangeAspect="1"/>
          </p:cNvPicPr>
          <p:nvPr/>
        </p:nvPicPr>
        <p:blipFill rotWithShape="1">
          <a:blip r:embed="rId3"/>
          <a:srcRect r="30668"/>
          <a:stretch/>
        </p:blipFill>
        <p:spPr>
          <a:xfrm>
            <a:off x="4211049" y="3547726"/>
            <a:ext cx="3679946" cy="2515879"/>
          </a:xfrm>
          <a:prstGeom prst="rect">
            <a:avLst/>
          </a:prstGeom>
          <a:ln>
            <a:noFill/>
          </a:ln>
          <a:effectLst>
            <a:outerShdw blurRad="50800" dist="38100" dir="2700000" algn="tl" rotWithShape="0">
              <a:prstClr val="black">
                <a:alpha val="40000"/>
              </a:prstClr>
            </a:outerShdw>
          </a:effectLst>
          <a:scene3d>
            <a:camera prst="orthographicFront">
              <a:rot lat="0" lon="0" rev="0"/>
            </a:camera>
            <a:lightRig rig="brightRoom" dir="t">
              <a:rot lat="0" lon="0" rev="600000"/>
            </a:lightRig>
          </a:scene3d>
          <a:sp3d prstMaterial="metal">
            <a:bevelT w="38100" h="57150" prst="angle"/>
          </a:sp3d>
        </p:spPr>
      </p:pic>
      <p:pic>
        <p:nvPicPr>
          <p:cNvPr id="20" name="Picture 19">
            <a:extLst>
              <a:ext uri="{FF2B5EF4-FFF2-40B4-BE49-F238E27FC236}">
                <a16:creationId xmlns:a16="http://schemas.microsoft.com/office/drawing/2014/main" id="{F6D36892-D645-464C-AEF0-FD6085AAC452}"/>
              </a:ext>
            </a:extLst>
          </p:cNvPr>
          <p:cNvPicPr>
            <a:picLocks noChangeAspect="1"/>
          </p:cNvPicPr>
          <p:nvPr/>
        </p:nvPicPr>
        <p:blipFill rotWithShape="1">
          <a:blip r:embed="rId4"/>
          <a:srcRect r="34483" b="32380"/>
          <a:stretch/>
        </p:blipFill>
        <p:spPr>
          <a:xfrm>
            <a:off x="161365" y="3517713"/>
            <a:ext cx="3709335" cy="2515879"/>
          </a:xfrm>
          <a:prstGeom prst="rect">
            <a:avLst/>
          </a:prstGeom>
          <a:ln>
            <a:noFill/>
          </a:ln>
          <a:effectLst>
            <a:outerShdw blurRad="50800" dist="38100" dir="2700000" algn="tl" rotWithShape="0">
              <a:prstClr val="black">
                <a:alpha val="40000"/>
              </a:prstClr>
            </a:outerShdw>
          </a:effectLst>
          <a:scene3d>
            <a:camera prst="orthographicFront">
              <a:rot lat="0" lon="0" rev="0"/>
            </a:camera>
            <a:lightRig rig="brightRoom" dir="t">
              <a:rot lat="0" lon="0" rev="600000"/>
            </a:lightRig>
          </a:scene3d>
          <a:sp3d prstMaterial="metal">
            <a:bevelT w="38100" h="57150" prst="angle"/>
          </a:sp3d>
        </p:spPr>
      </p:pic>
      <p:pic>
        <p:nvPicPr>
          <p:cNvPr id="22" name="Picture 21">
            <a:extLst>
              <a:ext uri="{FF2B5EF4-FFF2-40B4-BE49-F238E27FC236}">
                <a16:creationId xmlns:a16="http://schemas.microsoft.com/office/drawing/2014/main" id="{38016745-3EDA-41E8-BA9A-1AD972A4C632}"/>
              </a:ext>
            </a:extLst>
          </p:cNvPr>
          <p:cNvPicPr>
            <a:picLocks noChangeAspect="1"/>
          </p:cNvPicPr>
          <p:nvPr/>
        </p:nvPicPr>
        <p:blipFill rotWithShape="1">
          <a:blip r:embed="rId5"/>
          <a:srcRect r="33489" b="21820"/>
          <a:stretch/>
        </p:blipFill>
        <p:spPr>
          <a:xfrm>
            <a:off x="8231344" y="3547726"/>
            <a:ext cx="3709335" cy="245585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539849"/>
            <a:ext cx="10868745" cy="590649"/>
          </a:xfrm>
          <a:prstGeom prst="rect">
            <a:avLst/>
          </a:prstGeom>
          <a:noFill/>
          <a:ln/>
        </p:spPr>
        <p:txBody>
          <a:bodyPr wrap="none" lIns="0" tIns="0" rIns="0" bIns="0" rtlCol="0" anchor="t"/>
          <a:lstStyle/>
          <a:p>
            <a:pPr marL="0" indent="0" algn="l">
              <a:lnSpc>
                <a:spcPct val="104000"/>
              </a:lnSpc>
              <a:buNone/>
            </a:pPr>
            <a:r>
              <a:rPr lang="en-US" sz="3200" b="1" dirty="0">
                <a:solidFill>
                  <a:srgbClr val="000000"/>
                </a:solidFill>
                <a:latin typeface="Inter Bold" pitchFamily="34" charset="0"/>
                <a:ea typeface="Inter Bold" pitchFamily="34" charset="-122"/>
                <a:cs typeface="Inter Bold" pitchFamily="34" charset="-120"/>
              </a:rPr>
              <a:t>Executive Dashboard</a:t>
            </a:r>
            <a:endParaRPr lang="en-US" sz="3200" dirty="0"/>
          </a:p>
        </p:txBody>
      </p:sp>
      <p:sp>
        <p:nvSpPr>
          <p:cNvPr id="3" name="Text 1"/>
          <p:cNvSpPr/>
          <p:nvPr/>
        </p:nvSpPr>
        <p:spPr>
          <a:xfrm>
            <a:off x="661474" y="1413966"/>
            <a:ext cx="10868745" cy="354409"/>
          </a:xfrm>
          <a:prstGeom prst="rect">
            <a:avLst/>
          </a:prstGeom>
          <a:noFill/>
          <a:ln/>
        </p:spPr>
        <p:txBody>
          <a:bodyPr wrap="none" lIns="0" tIns="0" rIns="0" bIns="0" rtlCol="0" anchor="t"/>
          <a:lstStyle/>
          <a:p>
            <a:pPr marL="0" indent="0" algn="l">
              <a:lnSpc>
                <a:spcPct val="104000"/>
              </a:lnSpc>
              <a:buNone/>
            </a:pPr>
            <a:r>
              <a:rPr lang="en-US" sz="2200" b="1" dirty="0">
                <a:solidFill>
                  <a:srgbClr val="000000"/>
                </a:solidFill>
                <a:latin typeface="Inter Bold" pitchFamily="34" charset="0"/>
                <a:ea typeface="Inter Bold" pitchFamily="34" charset="-122"/>
                <a:cs typeface="Inter Bold" pitchFamily="34" charset="-120"/>
              </a:rPr>
              <a:t>Key KPIs:</a:t>
            </a:r>
            <a:endParaRPr lang="en-US" sz="2200" dirty="0"/>
          </a:p>
        </p:txBody>
      </p:sp>
      <p:sp>
        <p:nvSpPr>
          <p:cNvPr id="4" name="Text 2"/>
          <p:cNvSpPr/>
          <p:nvPr/>
        </p:nvSpPr>
        <p:spPr>
          <a:xfrm>
            <a:off x="661475" y="2157687"/>
            <a:ext cx="10868745" cy="1407914"/>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00" dirty="0">
                <a:solidFill>
                  <a:srgbClr val="272525"/>
                </a:solidFill>
                <a:latin typeface="Inter" pitchFamily="34" charset="0"/>
                <a:ea typeface="Inter" pitchFamily="34" charset="-122"/>
                <a:cs typeface="Inter" pitchFamily="34" charset="-120"/>
              </a:rPr>
              <a:t>Total Sales</a:t>
            </a:r>
            <a:endParaRPr lang="en-US" sz="1400" dirty="0"/>
          </a:p>
          <a:p>
            <a:pPr marL="294640" indent="-294640" algn="l">
              <a:lnSpc>
                <a:spcPct val="133000"/>
              </a:lnSpc>
              <a:buSzPct val="100000"/>
              <a:buChar char="•"/>
            </a:pPr>
            <a:r>
              <a:rPr lang="en-US" sz="1400" dirty="0">
                <a:solidFill>
                  <a:srgbClr val="272525"/>
                </a:solidFill>
                <a:latin typeface="Inter" pitchFamily="34" charset="0"/>
                <a:ea typeface="Inter" pitchFamily="34" charset="-122"/>
                <a:cs typeface="Inter" pitchFamily="34" charset="-120"/>
              </a:rPr>
              <a:t>Total Quantity</a:t>
            </a:r>
            <a:endParaRPr lang="en-US" sz="1400" dirty="0"/>
          </a:p>
          <a:p>
            <a:pPr marL="294640" indent="-294640" algn="l">
              <a:lnSpc>
                <a:spcPct val="133000"/>
              </a:lnSpc>
              <a:buSzPct val="100000"/>
              <a:buChar char="•"/>
            </a:pPr>
            <a:r>
              <a:rPr lang="en-US" sz="1400" dirty="0">
                <a:solidFill>
                  <a:srgbClr val="272525"/>
                </a:solidFill>
                <a:latin typeface="Inter" pitchFamily="34" charset="0"/>
                <a:ea typeface="Inter" pitchFamily="34" charset="-122"/>
                <a:cs typeface="Inter" pitchFamily="34" charset="-120"/>
              </a:rPr>
              <a:t>Average Price</a:t>
            </a:r>
            <a:endParaRPr lang="en-US" sz="1400" dirty="0"/>
          </a:p>
          <a:p>
            <a:pPr marL="294640" indent="-294640" algn="l">
              <a:lnSpc>
                <a:spcPct val="133000"/>
              </a:lnSpc>
              <a:buSzPct val="100000"/>
              <a:buChar char="•"/>
            </a:pPr>
            <a:r>
              <a:rPr lang="en-US" sz="1400" dirty="0">
                <a:solidFill>
                  <a:srgbClr val="272525"/>
                </a:solidFill>
                <a:latin typeface="Inter" pitchFamily="34" charset="0"/>
                <a:ea typeface="Inter" pitchFamily="34" charset="-122"/>
                <a:cs typeface="Inter" pitchFamily="34" charset="-120"/>
              </a:rPr>
              <a:t>Total Transactions</a:t>
            </a:r>
            <a:endParaRPr lang="en-US" sz="1400" dirty="0"/>
          </a:p>
        </p:txBody>
      </p:sp>
      <p:sp>
        <p:nvSpPr>
          <p:cNvPr id="5" name="Text 3"/>
          <p:cNvSpPr/>
          <p:nvPr/>
        </p:nvSpPr>
        <p:spPr>
          <a:xfrm>
            <a:off x="661475" y="3535363"/>
            <a:ext cx="10868745" cy="354409"/>
          </a:xfrm>
          <a:prstGeom prst="rect">
            <a:avLst/>
          </a:prstGeom>
          <a:noFill/>
          <a:ln/>
        </p:spPr>
        <p:txBody>
          <a:bodyPr wrap="none" lIns="0" tIns="0" rIns="0" bIns="0" rtlCol="0" anchor="t"/>
          <a:lstStyle/>
          <a:p>
            <a:pPr marL="0" indent="0" algn="l">
              <a:lnSpc>
                <a:spcPct val="104000"/>
              </a:lnSpc>
              <a:buNone/>
            </a:pPr>
            <a:r>
              <a:rPr lang="en-US" sz="2200" b="1" dirty="0">
                <a:solidFill>
                  <a:srgbClr val="000000"/>
                </a:solidFill>
                <a:latin typeface="Inter Bold" pitchFamily="34" charset="0"/>
                <a:ea typeface="Inter Bold" pitchFamily="34" charset="-122"/>
                <a:cs typeface="Inter Bold" pitchFamily="34" charset="-120"/>
              </a:rPr>
              <a:t>Dashboard Analysis:</a:t>
            </a:r>
            <a:endParaRPr lang="en-US" sz="2200" dirty="0"/>
          </a:p>
        </p:txBody>
      </p:sp>
      <p:sp>
        <p:nvSpPr>
          <p:cNvPr id="6" name="Text 4"/>
          <p:cNvSpPr/>
          <p:nvPr/>
        </p:nvSpPr>
        <p:spPr>
          <a:xfrm>
            <a:off x="661475" y="4173240"/>
            <a:ext cx="10868745" cy="2144911"/>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00" dirty="0">
                <a:solidFill>
                  <a:srgbClr val="272525"/>
                </a:solidFill>
                <a:latin typeface="Inter" pitchFamily="34" charset="0"/>
                <a:ea typeface="Inter" pitchFamily="34" charset="-122"/>
                <a:cs typeface="Inter" pitchFamily="34" charset="-120"/>
              </a:rPr>
              <a:t>City-wise Sales</a:t>
            </a:r>
            <a:endParaRPr lang="en-US" sz="1400" dirty="0"/>
          </a:p>
          <a:p>
            <a:pPr marL="294640" indent="-294640" algn="l">
              <a:lnSpc>
                <a:spcPct val="133000"/>
              </a:lnSpc>
              <a:buSzPct val="100000"/>
              <a:buChar char="•"/>
            </a:pPr>
            <a:r>
              <a:rPr lang="en-US" sz="1400" dirty="0">
                <a:solidFill>
                  <a:srgbClr val="272525"/>
                </a:solidFill>
                <a:latin typeface="Inter" pitchFamily="34" charset="0"/>
                <a:ea typeface="Inter" pitchFamily="34" charset="-122"/>
                <a:cs typeface="Inter" pitchFamily="34" charset="-120"/>
              </a:rPr>
              <a:t>Monthly Sales Trend</a:t>
            </a:r>
            <a:endParaRPr lang="en-US" sz="1400" dirty="0"/>
          </a:p>
          <a:p>
            <a:pPr marL="294640" indent="-294640" algn="l">
              <a:lnSpc>
                <a:spcPct val="133000"/>
              </a:lnSpc>
              <a:buSzPct val="100000"/>
              <a:buChar char="•"/>
            </a:pPr>
            <a:r>
              <a:rPr lang="en-US" sz="1400" dirty="0">
                <a:solidFill>
                  <a:srgbClr val="272525"/>
                </a:solidFill>
                <a:latin typeface="Inter" pitchFamily="34" charset="0"/>
                <a:ea typeface="Inter" pitchFamily="34" charset="-122"/>
                <a:cs typeface="Inter" pitchFamily="34" charset="-120"/>
              </a:rPr>
              <a:t>Customer Ratings</a:t>
            </a:r>
            <a:endParaRPr lang="en-US" sz="1400" dirty="0"/>
          </a:p>
          <a:p>
            <a:pPr marL="294640" indent="-294640" algn="l">
              <a:lnSpc>
                <a:spcPct val="133000"/>
              </a:lnSpc>
              <a:buSzPct val="100000"/>
              <a:buChar char="•"/>
            </a:pPr>
            <a:r>
              <a:rPr lang="en-US" sz="1400" dirty="0">
                <a:solidFill>
                  <a:srgbClr val="272525"/>
                </a:solidFill>
                <a:latin typeface="Inter" pitchFamily="34" charset="0"/>
                <a:ea typeface="Inter" pitchFamily="34" charset="-122"/>
                <a:cs typeface="Inter" pitchFamily="34" charset="-120"/>
              </a:rPr>
              <a:t>Payment Method Analysis</a:t>
            </a:r>
            <a:endParaRPr lang="en-US" sz="1400" dirty="0"/>
          </a:p>
          <a:p>
            <a:pPr marL="294640" indent="-294640" algn="l">
              <a:lnSpc>
                <a:spcPct val="133000"/>
              </a:lnSpc>
              <a:buSzPct val="100000"/>
              <a:buChar char="•"/>
            </a:pPr>
            <a:r>
              <a:rPr lang="en-US" sz="1400" dirty="0">
                <a:solidFill>
                  <a:srgbClr val="272525"/>
                </a:solidFill>
                <a:latin typeface="Inter" pitchFamily="34" charset="0"/>
                <a:ea typeface="Inter" pitchFamily="34" charset="-122"/>
                <a:cs typeface="Inter" pitchFamily="34" charset="-120"/>
              </a:rPr>
              <a:t>Brand Performance</a:t>
            </a:r>
            <a:endParaRPr lang="en-US" sz="1400" dirty="0"/>
          </a:p>
          <a:p>
            <a:pPr marL="294640" indent="-294640" algn="l">
              <a:lnSpc>
                <a:spcPct val="133000"/>
              </a:lnSpc>
              <a:buSzPct val="100000"/>
              <a:buChar char="•"/>
            </a:pPr>
            <a:r>
              <a:rPr lang="en-US" sz="1400" dirty="0">
                <a:solidFill>
                  <a:srgbClr val="272525"/>
                </a:solidFill>
                <a:latin typeface="Inter" pitchFamily="34" charset="0"/>
                <a:ea typeface="Inter" pitchFamily="34" charset="-122"/>
                <a:cs typeface="Inter" pitchFamily="34" charset="-120"/>
              </a:rPr>
              <a:t>Top Mobile Models</a:t>
            </a:r>
            <a:endParaRPr lang="en-US" sz="1400" dirty="0"/>
          </a:p>
        </p:txBody>
      </p:sp>
      <p:sp>
        <p:nvSpPr>
          <p:cNvPr id="7" name="Rectangle 6">
            <a:extLst>
              <a:ext uri="{FF2B5EF4-FFF2-40B4-BE49-F238E27FC236}">
                <a16:creationId xmlns:a16="http://schemas.microsoft.com/office/drawing/2014/main" id="{377AABCA-6D18-4A12-BB2B-CE794D7D3A88}"/>
              </a:ext>
            </a:extLst>
          </p:cNvPr>
          <p:cNvSpPr/>
          <p:nvPr/>
        </p:nvSpPr>
        <p:spPr>
          <a:xfrm>
            <a:off x="11080376" y="6544235"/>
            <a:ext cx="1048871" cy="3024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2364767" y="525066"/>
            <a:ext cx="10868745" cy="429617"/>
          </a:xfrm>
          <a:prstGeom prst="rect">
            <a:avLst/>
          </a:prstGeom>
          <a:noFill/>
          <a:ln/>
        </p:spPr>
        <p:txBody>
          <a:bodyPr wrap="none" lIns="0" tIns="0" rIns="0" bIns="0" rtlCol="0" anchor="t"/>
          <a:lstStyle/>
          <a:p>
            <a:pPr marL="0" indent="0" algn="l">
              <a:lnSpc>
                <a:spcPct val="104000"/>
              </a:lnSpc>
              <a:buNone/>
            </a:pPr>
            <a:r>
              <a:rPr lang="en-US" sz="3200" b="1" dirty="0">
                <a:solidFill>
                  <a:srgbClr val="000000"/>
                </a:solidFill>
                <a:latin typeface="Inter Bold" pitchFamily="34" charset="0"/>
                <a:ea typeface="Inter Bold" pitchFamily="34" charset="-122"/>
                <a:cs typeface="Inter Bold" pitchFamily="34" charset="-120"/>
              </a:rPr>
              <a:t>Dashboard Features</a:t>
            </a:r>
            <a:endParaRPr lang="en-US" sz="3200" dirty="0"/>
          </a:p>
        </p:txBody>
      </p:sp>
      <p:sp>
        <p:nvSpPr>
          <p:cNvPr id="3" name="Text 1"/>
          <p:cNvSpPr/>
          <p:nvPr/>
        </p:nvSpPr>
        <p:spPr>
          <a:xfrm>
            <a:off x="2364767" y="1228609"/>
            <a:ext cx="5266697" cy="214809"/>
          </a:xfrm>
          <a:prstGeom prst="rect">
            <a:avLst/>
          </a:prstGeom>
          <a:noFill/>
          <a:ln/>
        </p:spPr>
        <p:txBody>
          <a:bodyPr wrap="none" lIns="0" tIns="0" rIns="0" bIns="0" rtlCol="0" anchor="t"/>
          <a:lstStyle/>
          <a:p>
            <a:pPr marL="0" indent="0" algn="l">
              <a:lnSpc>
                <a:spcPct val="104000"/>
              </a:lnSpc>
              <a:buNone/>
            </a:pPr>
            <a:r>
              <a:rPr lang="en-US" sz="2200" b="1" dirty="0">
                <a:solidFill>
                  <a:srgbClr val="000000"/>
                </a:solidFill>
                <a:latin typeface="Inter Bold" pitchFamily="34" charset="0"/>
                <a:ea typeface="Inter Bold" pitchFamily="34" charset="-122"/>
                <a:cs typeface="Inter Bold" pitchFamily="34" charset="-120"/>
              </a:rPr>
              <a:t>Interactive Features:</a:t>
            </a:r>
            <a:endParaRPr lang="en-US" sz="2200" dirty="0"/>
          </a:p>
        </p:txBody>
      </p:sp>
      <p:sp>
        <p:nvSpPr>
          <p:cNvPr id="4" name="Text 2"/>
          <p:cNvSpPr/>
          <p:nvPr/>
        </p:nvSpPr>
        <p:spPr>
          <a:xfrm>
            <a:off x="2364769" y="1760481"/>
            <a:ext cx="5876282" cy="263582"/>
          </a:xfrm>
          <a:prstGeom prst="rect">
            <a:avLst/>
          </a:prstGeom>
          <a:noFill/>
          <a:ln/>
        </p:spPr>
        <p:txBody>
          <a:bodyPr wrap="none" lIns="0" tIns="0" rIns="0" bIns="0" rtlCol="0" anchor="t"/>
          <a:lstStyle/>
          <a:p>
            <a:pPr marL="0" indent="0" algn="l">
              <a:lnSpc>
                <a:spcPct val="115000"/>
              </a:lnSpc>
              <a:buNone/>
            </a:pPr>
            <a:r>
              <a:rPr lang="en-US" sz="1600" b="1" dirty="0">
                <a:solidFill>
                  <a:srgbClr val="272525"/>
                </a:solidFill>
                <a:latin typeface="Inter Bold" panose="020B0604020202020204" charset="0"/>
                <a:ea typeface="Inter Bold" panose="020B0604020202020204" charset="0"/>
                <a:cs typeface="Arial" panose="020B0604020202020204" pitchFamily="34" charset="0"/>
              </a:rPr>
              <a:t>Filters:</a:t>
            </a:r>
            <a:endParaRPr lang="en-US" sz="1600" b="1" dirty="0">
              <a:latin typeface="Inter Bold" panose="020B0604020202020204" charset="0"/>
              <a:ea typeface="Inter Bold" panose="020B0604020202020204" charset="0"/>
              <a:cs typeface="Arial" panose="020B0604020202020204" pitchFamily="34" charset="0"/>
            </a:endParaRPr>
          </a:p>
        </p:txBody>
      </p:sp>
      <p:sp>
        <p:nvSpPr>
          <p:cNvPr id="5" name="Text 3"/>
          <p:cNvSpPr/>
          <p:nvPr/>
        </p:nvSpPr>
        <p:spPr>
          <a:xfrm>
            <a:off x="2364768" y="2273797"/>
            <a:ext cx="5266697" cy="962462"/>
          </a:xfrm>
          <a:prstGeom prst="rect">
            <a:avLst/>
          </a:prstGeom>
          <a:noFill/>
          <a:ln/>
        </p:spPr>
        <p:txBody>
          <a:bodyPr wrap="square" lIns="0" tIns="0" rIns="0" bIns="0" rtlCol="0" anchor="t">
            <a:noAutofit/>
          </a:bodyPr>
          <a:lstStyle/>
          <a:p>
            <a:pPr marL="213360" indent="-213360" algn="l">
              <a:lnSpc>
                <a:spcPct val="115000"/>
              </a:lnSpc>
              <a:buSzPct val="100000"/>
              <a:buChar char="•"/>
            </a:pPr>
            <a:r>
              <a:rPr lang="en-US" sz="1400" dirty="0">
                <a:solidFill>
                  <a:srgbClr val="272525"/>
                </a:solidFill>
                <a:latin typeface="Inter" pitchFamily="34" charset="0"/>
                <a:ea typeface="Inter" pitchFamily="34" charset="-122"/>
                <a:cs typeface="Inter" pitchFamily="34" charset="-120"/>
              </a:rPr>
              <a:t>Brand</a:t>
            </a:r>
            <a:endParaRPr lang="en-US" sz="1400" dirty="0"/>
          </a:p>
          <a:p>
            <a:pPr marL="213360" indent="-213360" algn="l">
              <a:lnSpc>
                <a:spcPct val="115000"/>
              </a:lnSpc>
              <a:buSzPct val="100000"/>
              <a:buChar char="•"/>
            </a:pPr>
            <a:r>
              <a:rPr lang="en-US" sz="1400" dirty="0">
                <a:solidFill>
                  <a:srgbClr val="272525"/>
                </a:solidFill>
                <a:latin typeface="Inter" pitchFamily="34" charset="0"/>
                <a:ea typeface="Inter" pitchFamily="34" charset="-122"/>
                <a:cs typeface="Inter" pitchFamily="34" charset="-120"/>
              </a:rPr>
              <a:t>Mobile Model</a:t>
            </a:r>
            <a:endParaRPr lang="en-US" sz="1400" dirty="0"/>
          </a:p>
          <a:p>
            <a:pPr marL="213360" indent="-213360" algn="l">
              <a:lnSpc>
                <a:spcPct val="115000"/>
              </a:lnSpc>
              <a:buSzPct val="100000"/>
              <a:buChar char="•"/>
            </a:pPr>
            <a:r>
              <a:rPr lang="en-US" sz="1400" dirty="0">
                <a:solidFill>
                  <a:srgbClr val="272525"/>
                </a:solidFill>
                <a:latin typeface="Inter" pitchFamily="34" charset="0"/>
                <a:ea typeface="Inter" pitchFamily="34" charset="-122"/>
                <a:cs typeface="Inter" pitchFamily="34" charset="-120"/>
              </a:rPr>
              <a:t>Payment Method</a:t>
            </a:r>
            <a:endParaRPr lang="en-US" sz="1400" dirty="0"/>
          </a:p>
          <a:p>
            <a:pPr marL="213360" indent="-213360" algn="l">
              <a:lnSpc>
                <a:spcPct val="115000"/>
              </a:lnSpc>
              <a:buSzPct val="100000"/>
              <a:buChar char="•"/>
            </a:pPr>
            <a:r>
              <a:rPr lang="en-US" sz="1400" dirty="0">
                <a:solidFill>
                  <a:srgbClr val="272525"/>
                </a:solidFill>
                <a:latin typeface="Inter" pitchFamily="34" charset="0"/>
                <a:ea typeface="Inter" pitchFamily="34" charset="-122"/>
                <a:cs typeface="Inter" pitchFamily="34" charset="-120"/>
              </a:rPr>
              <a:t>Month</a:t>
            </a:r>
            <a:endParaRPr lang="en-US" sz="1400" dirty="0"/>
          </a:p>
        </p:txBody>
      </p:sp>
      <p:sp>
        <p:nvSpPr>
          <p:cNvPr id="6" name="Text 4"/>
          <p:cNvSpPr/>
          <p:nvPr/>
        </p:nvSpPr>
        <p:spPr>
          <a:xfrm>
            <a:off x="2364769" y="3485993"/>
            <a:ext cx="5266697" cy="214809"/>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Visualizations Used:</a:t>
            </a:r>
            <a:endParaRPr lang="en-US" sz="1600" dirty="0"/>
          </a:p>
        </p:txBody>
      </p:sp>
      <p:sp>
        <p:nvSpPr>
          <p:cNvPr id="7" name="Text 5"/>
          <p:cNvSpPr/>
          <p:nvPr/>
        </p:nvSpPr>
        <p:spPr>
          <a:xfrm>
            <a:off x="2364769" y="4024114"/>
            <a:ext cx="5266697" cy="1314648"/>
          </a:xfrm>
          <a:prstGeom prst="rect">
            <a:avLst/>
          </a:prstGeom>
          <a:noFill/>
          <a:ln/>
        </p:spPr>
        <p:txBody>
          <a:bodyPr wrap="square" lIns="0" tIns="0" rIns="0" bIns="0" rtlCol="0" anchor="t">
            <a:noAutofit/>
          </a:bodyPr>
          <a:lstStyle/>
          <a:p>
            <a:pPr marL="213360" indent="-213360" algn="l">
              <a:lnSpc>
                <a:spcPct val="115000"/>
              </a:lnSpc>
              <a:buSzPct val="100000"/>
              <a:buChar char="•"/>
            </a:pPr>
            <a:r>
              <a:rPr lang="en-US" sz="1400" dirty="0">
                <a:solidFill>
                  <a:srgbClr val="272525"/>
                </a:solidFill>
                <a:latin typeface="Inter" pitchFamily="34" charset="0"/>
                <a:ea typeface="Inter" pitchFamily="34" charset="-122"/>
                <a:cs typeface="Inter" pitchFamily="34" charset="-120"/>
              </a:rPr>
              <a:t>KPI Cards</a:t>
            </a:r>
            <a:endParaRPr lang="en-US" sz="1400" dirty="0"/>
          </a:p>
          <a:p>
            <a:pPr marL="213360" indent="-213360" algn="l">
              <a:lnSpc>
                <a:spcPct val="115000"/>
              </a:lnSpc>
              <a:buSzPct val="100000"/>
              <a:buChar char="•"/>
            </a:pPr>
            <a:r>
              <a:rPr lang="en-US" sz="1400" dirty="0">
                <a:solidFill>
                  <a:srgbClr val="272525"/>
                </a:solidFill>
                <a:latin typeface="Inter" pitchFamily="34" charset="0"/>
                <a:ea typeface="Inter" pitchFamily="34" charset="-122"/>
                <a:cs typeface="Inter" pitchFamily="34" charset="-120"/>
              </a:rPr>
              <a:t>Map</a:t>
            </a:r>
            <a:endParaRPr lang="en-US" sz="1400" dirty="0"/>
          </a:p>
          <a:p>
            <a:pPr marL="213360" indent="-213360" algn="l">
              <a:lnSpc>
                <a:spcPct val="115000"/>
              </a:lnSpc>
              <a:buSzPct val="100000"/>
              <a:buChar char="•"/>
            </a:pPr>
            <a:r>
              <a:rPr lang="en-US" sz="1400" dirty="0">
                <a:solidFill>
                  <a:srgbClr val="272525"/>
                </a:solidFill>
                <a:latin typeface="Inter" pitchFamily="34" charset="0"/>
                <a:ea typeface="Inter" pitchFamily="34" charset="-122"/>
                <a:cs typeface="Inter" pitchFamily="34" charset="-120"/>
              </a:rPr>
              <a:t>Line Chart</a:t>
            </a:r>
            <a:endParaRPr lang="en-US" sz="1400" dirty="0"/>
          </a:p>
          <a:p>
            <a:pPr marL="213360" indent="-213360" algn="l">
              <a:lnSpc>
                <a:spcPct val="115000"/>
              </a:lnSpc>
              <a:buSzPct val="100000"/>
              <a:buChar char="•"/>
            </a:pPr>
            <a:r>
              <a:rPr lang="en-US" sz="1400" dirty="0">
                <a:solidFill>
                  <a:srgbClr val="272525"/>
                </a:solidFill>
                <a:latin typeface="Inter" pitchFamily="34" charset="0"/>
                <a:ea typeface="Inter" pitchFamily="34" charset="-122"/>
                <a:cs typeface="Inter" pitchFamily="34" charset="-120"/>
              </a:rPr>
              <a:t>Pie Chart</a:t>
            </a:r>
            <a:endParaRPr lang="en-US" sz="1400" dirty="0"/>
          </a:p>
          <a:p>
            <a:pPr marL="213360" indent="-213360" algn="l">
              <a:lnSpc>
                <a:spcPct val="115000"/>
              </a:lnSpc>
              <a:buSzPct val="100000"/>
              <a:buChar char="•"/>
            </a:pPr>
            <a:r>
              <a:rPr lang="en-US" sz="1400" dirty="0">
                <a:solidFill>
                  <a:srgbClr val="272525"/>
                </a:solidFill>
                <a:latin typeface="Inter" pitchFamily="34" charset="0"/>
                <a:ea typeface="Inter" pitchFamily="34" charset="-122"/>
                <a:cs typeface="Inter" pitchFamily="34" charset="-120"/>
              </a:rPr>
              <a:t>Bar Chart</a:t>
            </a:r>
            <a:endParaRPr lang="en-US" sz="1400" dirty="0"/>
          </a:p>
          <a:p>
            <a:pPr marL="213360" indent="-213360" algn="l">
              <a:lnSpc>
                <a:spcPct val="115000"/>
              </a:lnSpc>
              <a:buSzPct val="100000"/>
              <a:buChar char="•"/>
            </a:pPr>
            <a:r>
              <a:rPr lang="en-US" sz="1400" dirty="0">
                <a:solidFill>
                  <a:srgbClr val="272525"/>
                </a:solidFill>
                <a:latin typeface="Inter" pitchFamily="34" charset="0"/>
                <a:ea typeface="Inter" pitchFamily="34" charset="-122"/>
                <a:cs typeface="Inter" pitchFamily="34" charset="-120"/>
              </a:rPr>
              <a:t>Table</a:t>
            </a:r>
            <a:endParaRPr lang="en-US" sz="1400" dirty="0"/>
          </a:p>
        </p:txBody>
      </p:sp>
      <p:sp>
        <p:nvSpPr>
          <p:cNvPr id="9" name="Rectangle 8">
            <a:extLst>
              <a:ext uri="{FF2B5EF4-FFF2-40B4-BE49-F238E27FC236}">
                <a16:creationId xmlns:a16="http://schemas.microsoft.com/office/drawing/2014/main" id="{ED755370-1291-42EC-953D-FA503AAEB8C3}"/>
              </a:ext>
            </a:extLst>
          </p:cNvPr>
          <p:cNvSpPr/>
          <p:nvPr/>
        </p:nvSpPr>
        <p:spPr>
          <a:xfrm>
            <a:off x="11080376" y="6553200"/>
            <a:ext cx="1048871" cy="3024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661475" y="627938"/>
            <a:ext cx="4772898" cy="590649"/>
          </a:xfrm>
          <a:prstGeom prst="rect">
            <a:avLst/>
          </a:prstGeom>
          <a:noFill/>
          <a:ln/>
        </p:spPr>
        <p:txBody>
          <a:bodyPr wrap="none" lIns="0" tIns="0" rIns="0" bIns="0" rtlCol="0" anchor="t"/>
          <a:lstStyle/>
          <a:p>
            <a:pPr marL="0" indent="0" algn="l">
              <a:lnSpc>
                <a:spcPct val="104000"/>
              </a:lnSpc>
              <a:buNone/>
            </a:pPr>
            <a:r>
              <a:rPr lang="en-US" sz="3200" b="1" dirty="0">
                <a:solidFill>
                  <a:srgbClr val="000000"/>
                </a:solidFill>
                <a:latin typeface="Inter Bold" pitchFamily="34" charset="0"/>
                <a:ea typeface="Inter Bold" pitchFamily="34" charset="-122"/>
                <a:cs typeface="Inter Bold" pitchFamily="34" charset="-120"/>
              </a:rPr>
              <a:t>MTD Analysis</a:t>
            </a:r>
            <a:endParaRPr lang="en-US" sz="3200" dirty="0"/>
          </a:p>
        </p:txBody>
      </p:sp>
      <p:sp>
        <p:nvSpPr>
          <p:cNvPr id="4" name="Text 1"/>
          <p:cNvSpPr/>
          <p:nvPr/>
        </p:nvSpPr>
        <p:spPr>
          <a:xfrm>
            <a:off x="661475" y="1502055"/>
            <a:ext cx="4772898" cy="1626907"/>
          </a:xfrm>
          <a:prstGeom prst="rect">
            <a:avLst/>
          </a:prstGeom>
          <a:noFill/>
          <a:ln/>
        </p:spPr>
        <p:txBody>
          <a:bodyPr wrap="square" lIns="0" tIns="0" rIns="0" bIns="0" rtlCol="0" anchor="t"/>
          <a:lstStyle/>
          <a:p>
            <a:pPr marL="0" indent="0" algn="l">
              <a:lnSpc>
                <a:spcPct val="133000"/>
              </a:lnSpc>
              <a:spcAft>
                <a:spcPts val="1650"/>
              </a:spcAft>
              <a:buNone/>
            </a:pPr>
            <a:r>
              <a:rPr lang="en-US" sz="1400" dirty="0">
                <a:solidFill>
                  <a:srgbClr val="272525"/>
                </a:solidFill>
                <a:latin typeface="Inter" pitchFamily="34" charset="0"/>
                <a:ea typeface="Inter" pitchFamily="34" charset="-122"/>
                <a:cs typeface="Inter" pitchFamily="34" charset="-120"/>
              </a:rPr>
              <a:t>Month-To-Date Analysis</a:t>
            </a:r>
            <a:endParaRPr lang="en-US" sz="1400" dirty="0"/>
          </a:p>
          <a:p>
            <a:pPr marL="0" indent="0" algn="l">
              <a:lnSpc>
                <a:spcPct val="133000"/>
              </a:lnSpc>
              <a:buNone/>
            </a:pPr>
            <a:r>
              <a:rPr lang="en-US" sz="1600" b="1" dirty="0">
                <a:solidFill>
                  <a:srgbClr val="272525"/>
                </a:solidFill>
                <a:latin typeface="Inter" pitchFamily="34" charset="0"/>
                <a:ea typeface="Inter" pitchFamily="34" charset="-122"/>
                <a:cs typeface="Inter" pitchFamily="34" charset="-120"/>
              </a:rPr>
              <a:t>Purpose: </a:t>
            </a:r>
          </a:p>
          <a:p>
            <a:pPr marL="0" indent="0" algn="l">
              <a:lnSpc>
                <a:spcPct val="133000"/>
              </a:lnSpc>
              <a:buNone/>
            </a:pPr>
            <a:r>
              <a:rPr lang="en-US" sz="1400" dirty="0">
                <a:solidFill>
                  <a:srgbClr val="272525"/>
                </a:solidFill>
                <a:latin typeface="Inter" pitchFamily="34" charset="0"/>
                <a:ea typeface="Inter" pitchFamily="34" charset="-122"/>
                <a:cs typeface="Inter" pitchFamily="34" charset="-120"/>
              </a:rPr>
              <a:t>Track cumulative sales performance throughout the selected month.</a:t>
            </a:r>
            <a:endParaRPr lang="en-US" sz="1400" dirty="0"/>
          </a:p>
        </p:txBody>
      </p:sp>
      <p:sp>
        <p:nvSpPr>
          <p:cNvPr id="5" name="Text 2"/>
          <p:cNvSpPr/>
          <p:nvPr/>
        </p:nvSpPr>
        <p:spPr>
          <a:xfrm>
            <a:off x="661475" y="3570734"/>
            <a:ext cx="4772898" cy="354409"/>
          </a:xfrm>
          <a:prstGeom prst="rect">
            <a:avLst/>
          </a:prstGeom>
          <a:noFill/>
          <a:ln/>
        </p:spPr>
        <p:txBody>
          <a:bodyPr wrap="none" lIns="0" tIns="0" rIns="0" bIns="0" rtlCol="0" anchor="t"/>
          <a:lstStyle/>
          <a:p>
            <a:pPr marL="0" indent="0" algn="l">
              <a:lnSpc>
                <a:spcPct val="104000"/>
              </a:lnSpc>
              <a:buNone/>
            </a:pPr>
            <a:r>
              <a:rPr lang="en-US" sz="3200" b="1" dirty="0">
                <a:solidFill>
                  <a:srgbClr val="000000"/>
                </a:solidFill>
                <a:latin typeface="Inter Bold" pitchFamily="34" charset="0"/>
                <a:ea typeface="Inter Bold" pitchFamily="34" charset="-122"/>
                <a:cs typeface="Inter Bold" pitchFamily="34" charset="-120"/>
              </a:rPr>
              <a:t>Highlights:</a:t>
            </a:r>
            <a:endParaRPr lang="en-US" sz="3200" dirty="0"/>
          </a:p>
        </p:txBody>
      </p:sp>
      <p:sp>
        <p:nvSpPr>
          <p:cNvPr id="6" name="Text 3"/>
          <p:cNvSpPr/>
          <p:nvPr/>
        </p:nvSpPr>
        <p:spPr>
          <a:xfrm>
            <a:off x="661476" y="4366915"/>
            <a:ext cx="4772898" cy="1039416"/>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00" dirty="0">
                <a:solidFill>
                  <a:srgbClr val="272525"/>
                </a:solidFill>
                <a:latin typeface="Inter" pitchFamily="34" charset="0"/>
                <a:ea typeface="Inter" pitchFamily="34" charset="-122"/>
                <a:cs typeface="Inter" pitchFamily="34" charset="-120"/>
              </a:rPr>
              <a:t>Daily Sales Trend</a:t>
            </a:r>
            <a:endParaRPr lang="en-US" sz="1400" dirty="0"/>
          </a:p>
          <a:p>
            <a:pPr marL="294640" indent="-294640" algn="l">
              <a:lnSpc>
                <a:spcPct val="133000"/>
              </a:lnSpc>
              <a:buSzPct val="100000"/>
              <a:buChar char="•"/>
            </a:pPr>
            <a:r>
              <a:rPr lang="en-US" sz="1400" dirty="0">
                <a:solidFill>
                  <a:srgbClr val="272525"/>
                </a:solidFill>
                <a:latin typeface="Inter" pitchFamily="34" charset="0"/>
                <a:ea typeface="Inter" pitchFamily="34" charset="-122"/>
                <a:cs typeface="Inter" pitchFamily="34" charset="-120"/>
              </a:rPr>
              <a:t>Running Monthly Sales</a:t>
            </a:r>
            <a:endParaRPr lang="en-US" sz="1400" dirty="0"/>
          </a:p>
          <a:p>
            <a:pPr marL="294640" indent="-294640" algn="l">
              <a:lnSpc>
                <a:spcPct val="133000"/>
              </a:lnSpc>
              <a:buSzPct val="100000"/>
              <a:buChar char="•"/>
            </a:pPr>
            <a:r>
              <a:rPr lang="en-US" sz="1400" dirty="0">
                <a:solidFill>
                  <a:srgbClr val="272525"/>
                </a:solidFill>
                <a:latin typeface="Inter" pitchFamily="34" charset="0"/>
                <a:ea typeface="Inter" pitchFamily="34" charset="-122"/>
                <a:cs typeface="Inter" pitchFamily="34" charset="-120"/>
              </a:rPr>
              <a:t>Monthly Performance Monitoring</a:t>
            </a:r>
            <a:endParaRPr lang="en-US" sz="1400" dirty="0"/>
          </a:p>
        </p:txBody>
      </p:sp>
      <p:sp>
        <p:nvSpPr>
          <p:cNvPr id="9" name="Rectangle 8">
            <a:extLst>
              <a:ext uri="{FF2B5EF4-FFF2-40B4-BE49-F238E27FC236}">
                <a16:creationId xmlns:a16="http://schemas.microsoft.com/office/drawing/2014/main" id="{C92CD94E-93F9-4E88-885C-9EDAE98D1F49}"/>
              </a:ext>
            </a:extLst>
          </p:cNvPr>
          <p:cNvSpPr/>
          <p:nvPr/>
        </p:nvSpPr>
        <p:spPr>
          <a:xfrm>
            <a:off x="11080376" y="6553200"/>
            <a:ext cx="1048871" cy="3024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74FA8DD2-A92F-4772-9EB5-9519F691965F}"/>
              </a:ext>
            </a:extLst>
          </p:cNvPr>
          <p:cNvPicPr>
            <a:picLocks noChangeAspect="1"/>
          </p:cNvPicPr>
          <p:nvPr/>
        </p:nvPicPr>
        <p:blipFill>
          <a:blip r:embed="rId3"/>
          <a:stretch>
            <a:fillRect/>
          </a:stretch>
        </p:blipFill>
        <p:spPr>
          <a:xfrm>
            <a:off x="5118846" y="1178860"/>
            <a:ext cx="6858001" cy="449384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661475" y="743358"/>
            <a:ext cx="6296860" cy="590649"/>
          </a:xfrm>
          <a:prstGeom prst="rect">
            <a:avLst/>
          </a:prstGeom>
          <a:noFill/>
          <a:ln/>
        </p:spPr>
        <p:txBody>
          <a:bodyPr wrap="none" lIns="0" tIns="0" rIns="0" bIns="0" rtlCol="0" anchor="t"/>
          <a:lstStyle/>
          <a:p>
            <a:pPr>
              <a:lnSpc>
                <a:spcPct val="104000"/>
              </a:lnSpc>
            </a:pPr>
            <a:r>
              <a:rPr lang="en-US" sz="3200" b="1" dirty="0">
                <a:solidFill>
                  <a:srgbClr val="000000"/>
                </a:solidFill>
                <a:latin typeface="Inter Bold" pitchFamily="34" charset="0"/>
                <a:ea typeface="Inter Bold" pitchFamily="34" charset="-122"/>
                <a:cs typeface="Inter Bold" pitchFamily="34" charset="-120"/>
              </a:rPr>
              <a:t>Same Period Last Year </a:t>
            </a:r>
            <a:r>
              <a:rPr lang="en-US" sz="3200" b="1" dirty="0">
                <a:solidFill>
                  <a:srgbClr val="000000"/>
                </a:solidFill>
                <a:latin typeface="Inter Bold" pitchFamily="34" charset="0"/>
                <a:ea typeface="Inter Bold" pitchFamily="34" charset="-122"/>
              </a:rPr>
              <a:t>Analysis</a:t>
            </a:r>
          </a:p>
          <a:p>
            <a:pPr marL="0" indent="0" algn="l">
              <a:lnSpc>
                <a:spcPct val="104000"/>
              </a:lnSpc>
              <a:buNone/>
            </a:pPr>
            <a:endParaRPr lang="en-US" sz="3200" dirty="0"/>
          </a:p>
        </p:txBody>
      </p:sp>
      <p:sp>
        <p:nvSpPr>
          <p:cNvPr id="4" name="Text 1"/>
          <p:cNvSpPr/>
          <p:nvPr/>
        </p:nvSpPr>
        <p:spPr>
          <a:xfrm>
            <a:off x="661475" y="1630270"/>
            <a:ext cx="4941466" cy="1283259"/>
          </a:xfrm>
          <a:prstGeom prst="rect">
            <a:avLst/>
          </a:prstGeom>
          <a:noFill/>
          <a:ln/>
        </p:spPr>
        <p:txBody>
          <a:bodyPr wrap="square" lIns="0" tIns="0" rIns="0" bIns="0" rtlCol="0" anchor="t"/>
          <a:lstStyle/>
          <a:p>
            <a:pPr marL="0" indent="0" algn="l">
              <a:lnSpc>
                <a:spcPct val="133000"/>
              </a:lnSpc>
              <a:spcAft>
                <a:spcPts val="1650"/>
              </a:spcAft>
              <a:buNone/>
            </a:pPr>
            <a:r>
              <a:rPr lang="en-US" sz="2200" b="1" dirty="0">
                <a:solidFill>
                  <a:srgbClr val="000000"/>
                </a:solidFill>
                <a:latin typeface="Inter Bold" pitchFamily="34" charset="0"/>
                <a:ea typeface="Inter Bold" pitchFamily="34" charset="-122"/>
              </a:rPr>
              <a:t>Purpose: </a:t>
            </a:r>
          </a:p>
          <a:p>
            <a:pPr marL="0" indent="0" algn="l">
              <a:lnSpc>
                <a:spcPct val="133000"/>
              </a:lnSpc>
              <a:buNone/>
            </a:pPr>
            <a:r>
              <a:rPr lang="en-US" sz="1400" dirty="0">
                <a:solidFill>
                  <a:srgbClr val="272525"/>
                </a:solidFill>
                <a:latin typeface="Inter" pitchFamily="34" charset="0"/>
                <a:ea typeface="Inter" pitchFamily="34" charset="-122"/>
                <a:cs typeface="Inter" pitchFamily="34" charset="-120"/>
              </a:rPr>
              <a:t>Compare current sales performance with the corresponding period of the previous year.</a:t>
            </a:r>
            <a:endParaRPr lang="en-US" sz="1400" dirty="0"/>
          </a:p>
        </p:txBody>
      </p:sp>
      <p:sp>
        <p:nvSpPr>
          <p:cNvPr id="5" name="Text 2"/>
          <p:cNvSpPr/>
          <p:nvPr/>
        </p:nvSpPr>
        <p:spPr>
          <a:xfrm>
            <a:off x="661475" y="3074591"/>
            <a:ext cx="6296860" cy="354409"/>
          </a:xfrm>
          <a:prstGeom prst="rect">
            <a:avLst/>
          </a:prstGeom>
          <a:noFill/>
          <a:ln/>
        </p:spPr>
        <p:txBody>
          <a:bodyPr wrap="none" lIns="0" tIns="0" rIns="0" bIns="0" rtlCol="0" anchor="t"/>
          <a:lstStyle/>
          <a:p>
            <a:pPr marL="0" indent="0" algn="l">
              <a:lnSpc>
                <a:spcPct val="104000"/>
              </a:lnSpc>
              <a:buNone/>
            </a:pPr>
            <a:r>
              <a:rPr lang="en-US" sz="2200" b="1" dirty="0">
                <a:solidFill>
                  <a:srgbClr val="000000"/>
                </a:solidFill>
                <a:latin typeface="Inter Bold" pitchFamily="34" charset="0"/>
                <a:ea typeface="Inter Bold" pitchFamily="34" charset="-122"/>
                <a:cs typeface="Inter Bold" pitchFamily="34" charset="-120"/>
              </a:rPr>
              <a:t>Analysis:</a:t>
            </a:r>
            <a:endParaRPr lang="en-US" sz="2200" dirty="0"/>
          </a:p>
        </p:txBody>
      </p:sp>
      <p:sp>
        <p:nvSpPr>
          <p:cNvPr id="6" name="Text 3"/>
          <p:cNvSpPr/>
          <p:nvPr/>
        </p:nvSpPr>
        <p:spPr>
          <a:xfrm>
            <a:off x="661475" y="3684177"/>
            <a:ext cx="6296860" cy="1039416"/>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00" dirty="0">
                <a:solidFill>
                  <a:srgbClr val="272525"/>
                </a:solidFill>
                <a:latin typeface="Inter" pitchFamily="34" charset="0"/>
                <a:ea typeface="Inter" pitchFamily="34" charset="-122"/>
                <a:cs typeface="Inter" pitchFamily="34" charset="-120"/>
              </a:rPr>
              <a:t>Monthly Comparison</a:t>
            </a:r>
            <a:endParaRPr lang="en-US" sz="1400" dirty="0"/>
          </a:p>
          <a:p>
            <a:pPr marL="294640" indent="-294640" algn="l">
              <a:lnSpc>
                <a:spcPct val="133000"/>
              </a:lnSpc>
              <a:buSzPct val="100000"/>
              <a:buChar char="•"/>
            </a:pPr>
            <a:r>
              <a:rPr lang="en-US" sz="1400" dirty="0">
                <a:solidFill>
                  <a:srgbClr val="272525"/>
                </a:solidFill>
                <a:latin typeface="Inter" pitchFamily="34" charset="0"/>
                <a:ea typeface="Inter" pitchFamily="34" charset="-122"/>
                <a:cs typeface="Inter" pitchFamily="34" charset="-120"/>
              </a:rPr>
              <a:t>Quarterly Comparison</a:t>
            </a:r>
            <a:endParaRPr lang="en-US" sz="1400" dirty="0"/>
          </a:p>
          <a:p>
            <a:pPr marL="294640" indent="-294640" algn="l">
              <a:lnSpc>
                <a:spcPct val="133000"/>
              </a:lnSpc>
              <a:buSzPct val="100000"/>
              <a:buChar char="•"/>
            </a:pPr>
            <a:r>
              <a:rPr lang="en-US" sz="1400" dirty="0">
                <a:solidFill>
                  <a:srgbClr val="272525"/>
                </a:solidFill>
                <a:latin typeface="Inter" pitchFamily="34" charset="0"/>
                <a:ea typeface="Inter" pitchFamily="34" charset="-122"/>
                <a:cs typeface="Inter" pitchFamily="34" charset="-120"/>
              </a:rPr>
              <a:t>Yearly Comparison</a:t>
            </a:r>
            <a:endParaRPr lang="en-US" sz="1400" dirty="0"/>
          </a:p>
        </p:txBody>
      </p:sp>
      <p:sp>
        <p:nvSpPr>
          <p:cNvPr id="9" name="Rectangle 8">
            <a:extLst>
              <a:ext uri="{FF2B5EF4-FFF2-40B4-BE49-F238E27FC236}">
                <a16:creationId xmlns:a16="http://schemas.microsoft.com/office/drawing/2014/main" id="{24366988-79D2-46D8-8751-5D2965D96FCB}"/>
              </a:ext>
            </a:extLst>
          </p:cNvPr>
          <p:cNvSpPr/>
          <p:nvPr/>
        </p:nvSpPr>
        <p:spPr>
          <a:xfrm>
            <a:off x="11080376" y="6553200"/>
            <a:ext cx="1048871" cy="3024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59C8A28B-6AFC-4072-8D91-7BB5DEA16D12}"/>
              </a:ext>
            </a:extLst>
          </p:cNvPr>
          <p:cNvPicPr>
            <a:picLocks noChangeAspect="1"/>
          </p:cNvPicPr>
          <p:nvPr/>
        </p:nvPicPr>
        <p:blipFill>
          <a:blip r:embed="rId3"/>
          <a:stretch>
            <a:fillRect/>
          </a:stretch>
        </p:blipFill>
        <p:spPr>
          <a:xfrm>
            <a:off x="4532597" y="1694496"/>
            <a:ext cx="7347867" cy="4499952"/>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752078"/>
            <a:ext cx="10868745" cy="590649"/>
          </a:xfrm>
          <a:prstGeom prst="rect">
            <a:avLst/>
          </a:prstGeom>
          <a:noFill/>
          <a:ln/>
        </p:spPr>
        <p:txBody>
          <a:bodyPr wrap="none" lIns="0" tIns="0" rIns="0" bIns="0" rtlCol="0" anchor="t"/>
          <a:lstStyle/>
          <a:p>
            <a:pPr marL="0" indent="0" algn="l">
              <a:lnSpc>
                <a:spcPct val="104000"/>
              </a:lnSpc>
              <a:buNone/>
            </a:pPr>
            <a:r>
              <a:rPr lang="en-US" sz="3200" b="1" dirty="0">
                <a:solidFill>
                  <a:srgbClr val="000000"/>
                </a:solidFill>
                <a:latin typeface="Inter Bold" pitchFamily="34" charset="0"/>
                <a:ea typeface="Inter Bold" pitchFamily="34" charset="-122"/>
                <a:cs typeface="Inter Bold" pitchFamily="34" charset="-120"/>
              </a:rPr>
              <a:t>Key Features &amp; Insights</a:t>
            </a:r>
            <a:endParaRPr lang="en-US" sz="3200" dirty="0"/>
          </a:p>
        </p:txBody>
      </p:sp>
      <p:sp>
        <p:nvSpPr>
          <p:cNvPr id="3" name="Shape 1"/>
          <p:cNvSpPr/>
          <p:nvPr/>
        </p:nvSpPr>
        <p:spPr>
          <a:xfrm>
            <a:off x="661475" y="1824732"/>
            <a:ext cx="94454" cy="94456"/>
          </a:xfrm>
          <a:prstGeom prst="ellipse">
            <a:avLst/>
          </a:prstGeom>
          <a:solidFill>
            <a:srgbClr val="4950BC"/>
          </a:solidFill>
          <a:ln/>
        </p:spPr>
      </p:sp>
      <p:sp>
        <p:nvSpPr>
          <p:cNvPr id="4" name="Text 2"/>
          <p:cNvSpPr/>
          <p:nvPr/>
        </p:nvSpPr>
        <p:spPr>
          <a:xfrm>
            <a:off x="944936" y="1720751"/>
            <a:ext cx="10585284" cy="302419"/>
          </a:xfrm>
          <a:prstGeom prst="rect">
            <a:avLst/>
          </a:prstGeom>
          <a:noFill/>
          <a:ln/>
        </p:spPr>
        <p:txBody>
          <a:bodyPr wrap="none" lIns="0" tIns="0" rIns="0" bIns="0" rtlCol="0" anchor="t"/>
          <a:lstStyle/>
          <a:p>
            <a:pPr marL="0" indent="0" algn="l">
              <a:lnSpc>
                <a:spcPct val="133000"/>
              </a:lnSpc>
              <a:buNone/>
            </a:pPr>
            <a:r>
              <a:rPr lang="en-US" sz="1400" dirty="0">
                <a:solidFill>
                  <a:srgbClr val="272525"/>
                </a:solidFill>
                <a:latin typeface="Inter" pitchFamily="34" charset="0"/>
                <a:ea typeface="Inter" pitchFamily="34" charset="-122"/>
                <a:cs typeface="Inter" pitchFamily="34" charset="-120"/>
              </a:rPr>
              <a:t>Interactive KPI monitoring</a:t>
            </a:r>
            <a:endParaRPr lang="en-US" sz="1400" dirty="0"/>
          </a:p>
        </p:txBody>
      </p:sp>
      <p:sp>
        <p:nvSpPr>
          <p:cNvPr id="5" name="Shape 3"/>
          <p:cNvSpPr/>
          <p:nvPr/>
        </p:nvSpPr>
        <p:spPr>
          <a:xfrm>
            <a:off x="661475" y="2505174"/>
            <a:ext cx="94454" cy="94456"/>
          </a:xfrm>
          <a:prstGeom prst="ellipse">
            <a:avLst/>
          </a:prstGeom>
          <a:solidFill>
            <a:srgbClr val="4950BC"/>
          </a:solidFill>
          <a:ln/>
        </p:spPr>
      </p:sp>
      <p:sp>
        <p:nvSpPr>
          <p:cNvPr id="6" name="Text 4"/>
          <p:cNvSpPr/>
          <p:nvPr/>
        </p:nvSpPr>
        <p:spPr>
          <a:xfrm>
            <a:off x="944936" y="2401193"/>
            <a:ext cx="10585284" cy="302419"/>
          </a:xfrm>
          <a:prstGeom prst="rect">
            <a:avLst/>
          </a:prstGeom>
          <a:noFill/>
          <a:ln/>
        </p:spPr>
        <p:txBody>
          <a:bodyPr wrap="none" lIns="0" tIns="0" rIns="0" bIns="0" rtlCol="0" anchor="t"/>
          <a:lstStyle/>
          <a:p>
            <a:pPr marL="0" indent="0" algn="l">
              <a:lnSpc>
                <a:spcPct val="133000"/>
              </a:lnSpc>
              <a:buNone/>
            </a:pPr>
            <a:r>
              <a:rPr lang="en-US" sz="1400" dirty="0">
                <a:solidFill>
                  <a:srgbClr val="272525"/>
                </a:solidFill>
                <a:latin typeface="Inter" pitchFamily="34" charset="0"/>
                <a:ea typeface="Inter" pitchFamily="34" charset="-122"/>
                <a:cs typeface="Inter" pitchFamily="34" charset="-120"/>
              </a:rPr>
              <a:t>Dynamic filtering by Brand, Model, Payment Method, and Month</a:t>
            </a:r>
            <a:endParaRPr lang="en-US" sz="1400" dirty="0"/>
          </a:p>
        </p:txBody>
      </p:sp>
      <p:sp>
        <p:nvSpPr>
          <p:cNvPr id="7" name="Shape 5"/>
          <p:cNvSpPr/>
          <p:nvPr/>
        </p:nvSpPr>
        <p:spPr>
          <a:xfrm>
            <a:off x="661475" y="3185616"/>
            <a:ext cx="94454" cy="94456"/>
          </a:xfrm>
          <a:prstGeom prst="ellipse">
            <a:avLst/>
          </a:prstGeom>
          <a:solidFill>
            <a:srgbClr val="4950BC"/>
          </a:solidFill>
          <a:ln/>
        </p:spPr>
      </p:sp>
      <p:sp>
        <p:nvSpPr>
          <p:cNvPr id="8" name="Text 6"/>
          <p:cNvSpPr/>
          <p:nvPr/>
        </p:nvSpPr>
        <p:spPr>
          <a:xfrm>
            <a:off x="944936" y="3081635"/>
            <a:ext cx="10585284" cy="302419"/>
          </a:xfrm>
          <a:prstGeom prst="rect">
            <a:avLst/>
          </a:prstGeom>
          <a:noFill/>
          <a:ln/>
        </p:spPr>
        <p:txBody>
          <a:bodyPr wrap="none" lIns="0" tIns="0" rIns="0" bIns="0" rtlCol="0" anchor="t"/>
          <a:lstStyle/>
          <a:p>
            <a:pPr marL="0" indent="0" algn="l">
              <a:lnSpc>
                <a:spcPct val="133000"/>
              </a:lnSpc>
              <a:buNone/>
            </a:pPr>
            <a:r>
              <a:rPr lang="en-US" sz="1400" dirty="0">
                <a:solidFill>
                  <a:srgbClr val="272525"/>
                </a:solidFill>
                <a:latin typeface="Inter" pitchFamily="34" charset="0"/>
                <a:ea typeface="Inter" pitchFamily="34" charset="-122"/>
                <a:cs typeface="Inter" pitchFamily="34" charset="-120"/>
              </a:rPr>
              <a:t>City-wise sales analysis through map visualization</a:t>
            </a:r>
            <a:endParaRPr lang="en-US" sz="1400" dirty="0"/>
          </a:p>
        </p:txBody>
      </p:sp>
      <p:sp>
        <p:nvSpPr>
          <p:cNvPr id="9" name="Shape 7"/>
          <p:cNvSpPr/>
          <p:nvPr/>
        </p:nvSpPr>
        <p:spPr>
          <a:xfrm>
            <a:off x="661475" y="3866059"/>
            <a:ext cx="94454" cy="94456"/>
          </a:xfrm>
          <a:prstGeom prst="ellipse">
            <a:avLst/>
          </a:prstGeom>
          <a:solidFill>
            <a:srgbClr val="4950BC"/>
          </a:solidFill>
          <a:ln/>
        </p:spPr>
      </p:sp>
      <p:sp>
        <p:nvSpPr>
          <p:cNvPr id="10" name="Text 8"/>
          <p:cNvSpPr/>
          <p:nvPr/>
        </p:nvSpPr>
        <p:spPr>
          <a:xfrm>
            <a:off x="944936" y="3762077"/>
            <a:ext cx="10585284" cy="302419"/>
          </a:xfrm>
          <a:prstGeom prst="rect">
            <a:avLst/>
          </a:prstGeom>
          <a:noFill/>
          <a:ln/>
        </p:spPr>
        <p:txBody>
          <a:bodyPr wrap="none" lIns="0" tIns="0" rIns="0" bIns="0" rtlCol="0" anchor="t"/>
          <a:lstStyle/>
          <a:p>
            <a:pPr marL="0" indent="0" algn="l">
              <a:lnSpc>
                <a:spcPct val="133000"/>
              </a:lnSpc>
              <a:buNone/>
            </a:pPr>
            <a:r>
              <a:rPr lang="en-US" sz="1400" dirty="0">
                <a:solidFill>
                  <a:srgbClr val="272525"/>
                </a:solidFill>
                <a:latin typeface="Inter" pitchFamily="34" charset="0"/>
                <a:ea typeface="Inter" pitchFamily="34" charset="-122"/>
                <a:cs typeface="Inter" pitchFamily="34" charset="-120"/>
              </a:rPr>
              <a:t>Month-to-Date (MTD) sales tracking</a:t>
            </a:r>
            <a:endParaRPr lang="en-US" sz="1400" dirty="0"/>
          </a:p>
        </p:txBody>
      </p:sp>
      <p:sp>
        <p:nvSpPr>
          <p:cNvPr id="11" name="Shape 9"/>
          <p:cNvSpPr/>
          <p:nvPr/>
        </p:nvSpPr>
        <p:spPr>
          <a:xfrm>
            <a:off x="661475" y="4546501"/>
            <a:ext cx="94454" cy="94456"/>
          </a:xfrm>
          <a:prstGeom prst="ellipse">
            <a:avLst/>
          </a:prstGeom>
          <a:solidFill>
            <a:srgbClr val="4950BC"/>
          </a:solidFill>
          <a:ln/>
        </p:spPr>
      </p:sp>
      <p:sp>
        <p:nvSpPr>
          <p:cNvPr id="12" name="Text 10"/>
          <p:cNvSpPr/>
          <p:nvPr/>
        </p:nvSpPr>
        <p:spPr>
          <a:xfrm>
            <a:off x="944936" y="4442520"/>
            <a:ext cx="10585284" cy="302419"/>
          </a:xfrm>
          <a:prstGeom prst="rect">
            <a:avLst/>
          </a:prstGeom>
          <a:noFill/>
          <a:ln/>
        </p:spPr>
        <p:txBody>
          <a:bodyPr wrap="none" lIns="0" tIns="0" rIns="0" bIns="0" rtlCol="0" anchor="t"/>
          <a:lstStyle/>
          <a:p>
            <a:pPr marL="0" indent="0" algn="l">
              <a:lnSpc>
                <a:spcPct val="133000"/>
              </a:lnSpc>
              <a:buNone/>
            </a:pPr>
            <a:r>
              <a:rPr lang="en-US" sz="1400" dirty="0">
                <a:solidFill>
                  <a:srgbClr val="272525"/>
                </a:solidFill>
                <a:latin typeface="Inter" pitchFamily="34" charset="0"/>
                <a:ea typeface="Inter" pitchFamily="34" charset="-122"/>
                <a:cs typeface="Inter" pitchFamily="34" charset="-120"/>
              </a:rPr>
              <a:t>Year-over-Year sales comparison using SAMEPERIODLASTYEAR</a:t>
            </a:r>
            <a:endParaRPr lang="en-US" sz="1400" dirty="0"/>
          </a:p>
        </p:txBody>
      </p:sp>
      <p:sp>
        <p:nvSpPr>
          <p:cNvPr id="13" name="Shape 11"/>
          <p:cNvSpPr/>
          <p:nvPr/>
        </p:nvSpPr>
        <p:spPr>
          <a:xfrm>
            <a:off x="661475" y="5226943"/>
            <a:ext cx="94454" cy="94456"/>
          </a:xfrm>
          <a:prstGeom prst="ellipse">
            <a:avLst/>
          </a:prstGeom>
          <a:solidFill>
            <a:srgbClr val="4950BC"/>
          </a:solidFill>
          <a:ln/>
        </p:spPr>
      </p:sp>
      <p:sp>
        <p:nvSpPr>
          <p:cNvPr id="14" name="Text 12"/>
          <p:cNvSpPr/>
          <p:nvPr/>
        </p:nvSpPr>
        <p:spPr>
          <a:xfrm>
            <a:off x="944936" y="5122962"/>
            <a:ext cx="10585284" cy="302419"/>
          </a:xfrm>
          <a:prstGeom prst="rect">
            <a:avLst/>
          </a:prstGeom>
          <a:noFill/>
          <a:ln/>
        </p:spPr>
        <p:txBody>
          <a:bodyPr wrap="none" lIns="0" tIns="0" rIns="0" bIns="0" rtlCol="0" anchor="t"/>
          <a:lstStyle/>
          <a:p>
            <a:pPr marL="0" indent="0" algn="l">
              <a:lnSpc>
                <a:spcPct val="133000"/>
              </a:lnSpc>
              <a:buNone/>
            </a:pPr>
            <a:r>
              <a:rPr lang="en-US" sz="1400" dirty="0">
                <a:solidFill>
                  <a:srgbClr val="272525"/>
                </a:solidFill>
                <a:latin typeface="Inter" pitchFamily="34" charset="0"/>
                <a:ea typeface="Inter" pitchFamily="34" charset="-122"/>
                <a:cs typeface="Inter" pitchFamily="34" charset="-120"/>
              </a:rPr>
              <a:t>Customer rating and payment method analysis</a:t>
            </a:r>
            <a:endParaRPr lang="en-US" sz="1400" dirty="0"/>
          </a:p>
        </p:txBody>
      </p:sp>
      <p:sp>
        <p:nvSpPr>
          <p:cNvPr id="15" name="Shape 13"/>
          <p:cNvSpPr/>
          <p:nvPr/>
        </p:nvSpPr>
        <p:spPr>
          <a:xfrm>
            <a:off x="661475" y="5907385"/>
            <a:ext cx="94454" cy="94456"/>
          </a:xfrm>
          <a:prstGeom prst="ellipse">
            <a:avLst/>
          </a:prstGeom>
          <a:solidFill>
            <a:srgbClr val="4950BC"/>
          </a:solidFill>
          <a:ln/>
        </p:spPr>
      </p:sp>
      <p:sp>
        <p:nvSpPr>
          <p:cNvPr id="16" name="Text 14"/>
          <p:cNvSpPr/>
          <p:nvPr/>
        </p:nvSpPr>
        <p:spPr>
          <a:xfrm>
            <a:off x="944936" y="5803403"/>
            <a:ext cx="10585284" cy="302419"/>
          </a:xfrm>
          <a:prstGeom prst="rect">
            <a:avLst/>
          </a:prstGeom>
          <a:noFill/>
          <a:ln/>
        </p:spPr>
        <p:txBody>
          <a:bodyPr wrap="none" lIns="0" tIns="0" rIns="0" bIns="0" rtlCol="0" anchor="t"/>
          <a:lstStyle/>
          <a:p>
            <a:pPr marL="0" indent="0" algn="l">
              <a:lnSpc>
                <a:spcPct val="133000"/>
              </a:lnSpc>
              <a:buNone/>
            </a:pPr>
            <a:r>
              <a:rPr lang="en-US" sz="1400" dirty="0">
                <a:solidFill>
                  <a:srgbClr val="272525"/>
                </a:solidFill>
                <a:latin typeface="Inter" pitchFamily="34" charset="0"/>
                <a:ea typeface="Inter" pitchFamily="34" charset="-122"/>
                <a:cs typeface="Inter" pitchFamily="34" charset="-120"/>
              </a:rPr>
              <a:t>Responsive dashboard with cross-filtering across visuals</a:t>
            </a:r>
            <a:endParaRPr lang="en-US" sz="1400" dirty="0"/>
          </a:p>
        </p:txBody>
      </p:sp>
      <p:sp>
        <p:nvSpPr>
          <p:cNvPr id="17" name="Rectangle 16">
            <a:extLst>
              <a:ext uri="{FF2B5EF4-FFF2-40B4-BE49-F238E27FC236}">
                <a16:creationId xmlns:a16="http://schemas.microsoft.com/office/drawing/2014/main" id="{313C4232-854D-4E0B-86C4-BC318EE93C38}"/>
              </a:ext>
            </a:extLst>
          </p:cNvPr>
          <p:cNvSpPr/>
          <p:nvPr/>
        </p:nvSpPr>
        <p:spPr>
          <a:xfrm>
            <a:off x="11080376" y="6544235"/>
            <a:ext cx="1048871" cy="3024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562DE0F-E229-4C59-8A60-C25FE2D12A35}"/>
              </a:ext>
            </a:extLst>
          </p:cNvPr>
          <p:cNvSpPr/>
          <p:nvPr/>
        </p:nvSpPr>
        <p:spPr>
          <a:xfrm>
            <a:off x="1" y="0"/>
            <a:ext cx="12192000" cy="68556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0"/>
          <p:cNvSpPr/>
          <p:nvPr/>
        </p:nvSpPr>
        <p:spPr>
          <a:xfrm>
            <a:off x="661475" y="1307604"/>
            <a:ext cx="10868745" cy="590649"/>
          </a:xfrm>
          <a:prstGeom prst="rect">
            <a:avLst/>
          </a:prstGeom>
          <a:noFill/>
          <a:ln/>
        </p:spPr>
        <p:txBody>
          <a:bodyPr wrap="none" lIns="0" tIns="0" rIns="0" bIns="0" rtlCol="0" anchor="t"/>
          <a:lstStyle/>
          <a:p>
            <a:pPr marL="0" indent="0" algn="l">
              <a:lnSpc>
                <a:spcPct val="104000"/>
              </a:lnSpc>
              <a:buNone/>
            </a:pPr>
            <a:r>
              <a:rPr lang="en-US" sz="3200" b="1" dirty="0">
                <a:solidFill>
                  <a:srgbClr val="000000"/>
                </a:solidFill>
                <a:latin typeface="Inter Bold" pitchFamily="34" charset="0"/>
                <a:ea typeface="Inter Bold" pitchFamily="34" charset="-122"/>
                <a:cs typeface="Inter Bold" pitchFamily="34" charset="-120"/>
              </a:rPr>
              <a:t>Conclusion</a:t>
            </a:r>
            <a:endParaRPr lang="en-US" sz="3200" dirty="0"/>
          </a:p>
        </p:txBody>
      </p:sp>
      <p:sp>
        <p:nvSpPr>
          <p:cNvPr id="3" name="Text 1"/>
          <p:cNvSpPr/>
          <p:nvPr/>
        </p:nvSpPr>
        <p:spPr>
          <a:xfrm>
            <a:off x="661475" y="2181721"/>
            <a:ext cx="11478330" cy="302419"/>
          </a:xfrm>
          <a:prstGeom prst="rect">
            <a:avLst/>
          </a:prstGeom>
          <a:noFill/>
          <a:ln/>
        </p:spPr>
        <p:txBody>
          <a:bodyPr wrap="none" lIns="0" tIns="0" rIns="0" bIns="0" rtlCol="0" anchor="t"/>
          <a:lstStyle/>
          <a:p>
            <a:pPr marL="0" indent="0" algn="l">
              <a:lnSpc>
                <a:spcPct val="133000"/>
              </a:lnSpc>
              <a:buNone/>
            </a:pPr>
            <a:r>
              <a:rPr lang="en-US" sz="1400" dirty="0">
                <a:solidFill>
                  <a:srgbClr val="272525"/>
                </a:solidFill>
                <a:latin typeface="Inter" pitchFamily="34" charset="0"/>
                <a:ea typeface="Inter" pitchFamily="34" charset="-122"/>
                <a:cs typeface="Inter" pitchFamily="34" charset="-120"/>
              </a:rPr>
              <a:t>This dashboard transforms raw mobile sales data into meaningful business insights through interactive visualizations.</a:t>
            </a:r>
            <a:endParaRPr lang="en-US" sz="1400" dirty="0"/>
          </a:p>
        </p:txBody>
      </p:sp>
      <p:sp>
        <p:nvSpPr>
          <p:cNvPr id="4" name="Text 2"/>
          <p:cNvSpPr/>
          <p:nvPr/>
        </p:nvSpPr>
        <p:spPr>
          <a:xfrm>
            <a:off x="661475" y="2767608"/>
            <a:ext cx="10868745" cy="354409"/>
          </a:xfrm>
          <a:prstGeom prst="rect">
            <a:avLst/>
          </a:prstGeom>
          <a:noFill/>
          <a:ln/>
        </p:spPr>
        <p:txBody>
          <a:bodyPr wrap="none" lIns="0" tIns="0" rIns="0" bIns="0" rtlCol="0" anchor="t"/>
          <a:lstStyle/>
          <a:p>
            <a:pPr marL="0" indent="0" algn="l">
              <a:lnSpc>
                <a:spcPct val="104000"/>
              </a:lnSpc>
              <a:buNone/>
            </a:pPr>
            <a:r>
              <a:rPr lang="en-US" sz="2200" b="1" dirty="0">
                <a:solidFill>
                  <a:srgbClr val="000000"/>
                </a:solidFill>
                <a:latin typeface="Inter Bold" pitchFamily="34" charset="0"/>
                <a:ea typeface="Inter Bold" pitchFamily="34" charset="-122"/>
                <a:cs typeface="Inter Bold" pitchFamily="34" charset="-120"/>
              </a:rPr>
              <a:t>Skills Demonstrated:</a:t>
            </a:r>
            <a:endParaRPr lang="en-US" sz="2200" dirty="0"/>
          </a:p>
        </p:txBody>
      </p:sp>
      <p:sp>
        <p:nvSpPr>
          <p:cNvPr id="5" name="Text 3"/>
          <p:cNvSpPr/>
          <p:nvPr/>
        </p:nvSpPr>
        <p:spPr>
          <a:xfrm>
            <a:off x="661475" y="3405485"/>
            <a:ext cx="10868745" cy="2144911"/>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00" dirty="0">
                <a:solidFill>
                  <a:srgbClr val="272525"/>
                </a:solidFill>
                <a:latin typeface="Inter" pitchFamily="34" charset="0"/>
                <a:ea typeface="Inter" pitchFamily="34" charset="-122"/>
                <a:cs typeface="Inter" pitchFamily="34" charset="-120"/>
              </a:rPr>
              <a:t>Power BI</a:t>
            </a:r>
            <a:endParaRPr lang="en-US" sz="1400" dirty="0"/>
          </a:p>
          <a:p>
            <a:pPr marL="294640" indent="-294640" algn="l">
              <a:lnSpc>
                <a:spcPct val="133000"/>
              </a:lnSpc>
              <a:buSzPct val="100000"/>
              <a:buChar char="•"/>
            </a:pPr>
            <a:r>
              <a:rPr lang="en-US" sz="1400" dirty="0">
                <a:solidFill>
                  <a:srgbClr val="272525"/>
                </a:solidFill>
                <a:latin typeface="Inter" pitchFamily="34" charset="0"/>
                <a:ea typeface="Inter" pitchFamily="34" charset="-122"/>
                <a:cs typeface="Inter" pitchFamily="34" charset="-120"/>
              </a:rPr>
              <a:t>Power Query</a:t>
            </a:r>
            <a:endParaRPr lang="en-US" sz="1400" dirty="0"/>
          </a:p>
          <a:p>
            <a:pPr marL="294640" indent="-294640" algn="l">
              <a:lnSpc>
                <a:spcPct val="133000"/>
              </a:lnSpc>
              <a:buSzPct val="100000"/>
              <a:buChar char="•"/>
            </a:pPr>
            <a:r>
              <a:rPr lang="en-US" sz="1400" dirty="0">
                <a:solidFill>
                  <a:srgbClr val="272525"/>
                </a:solidFill>
                <a:latin typeface="Inter" pitchFamily="34" charset="0"/>
                <a:ea typeface="Inter" pitchFamily="34" charset="-122"/>
                <a:cs typeface="Inter" pitchFamily="34" charset="-120"/>
              </a:rPr>
              <a:t>DAX</a:t>
            </a:r>
            <a:endParaRPr lang="en-US" sz="1400" dirty="0"/>
          </a:p>
          <a:p>
            <a:pPr marL="294640" indent="-294640" algn="l">
              <a:lnSpc>
                <a:spcPct val="133000"/>
              </a:lnSpc>
              <a:buSzPct val="100000"/>
              <a:buChar char="•"/>
            </a:pPr>
            <a:r>
              <a:rPr lang="en-US" sz="1400" dirty="0">
                <a:solidFill>
                  <a:srgbClr val="272525"/>
                </a:solidFill>
                <a:latin typeface="Inter" pitchFamily="34" charset="0"/>
                <a:ea typeface="Inter" pitchFamily="34" charset="-122"/>
                <a:cs typeface="Inter" pitchFamily="34" charset="-120"/>
              </a:rPr>
              <a:t>Data Visualization</a:t>
            </a:r>
            <a:endParaRPr lang="en-US" sz="1400" dirty="0"/>
          </a:p>
          <a:p>
            <a:pPr marL="294640" indent="-294640" algn="l">
              <a:lnSpc>
                <a:spcPct val="133000"/>
              </a:lnSpc>
              <a:buSzPct val="100000"/>
              <a:buChar char="•"/>
            </a:pPr>
            <a:r>
              <a:rPr lang="en-US" sz="1400" dirty="0">
                <a:solidFill>
                  <a:srgbClr val="272525"/>
                </a:solidFill>
                <a:latin typeface="Inter" pitchFamily="34" charset="0"/>
                <a:ea typeface="Inter" pitchFamily="34" charset="-122"/>
                <a:cs typeface="Inter" pitchFamily="34" charset="-120"/>
              </a:rPr>
              <a:t>Time Intelligence</a:t>
            </a:r>
            <a:endParaRPr lang="en-US" sz="1400" dirty="0"/>
          </a:p>
          <a:p>
            <a:pPr marL="294640" indent="-294640" algn="l">
              <a:lnSpc>
                <a:spcPct val="133000"/>
              </a:lnSpc>
              <a:buSzPct val="100000"/>
              <a:buChar char="•"/>
            </a:pPr>
            <a:r>
              <a:rPr lang="en-US" sz="1400" dirty="0">
                <a:solidFill>
                  <a:srgbClr val="272525"/>
                </a:solidFill>
                <a:latin typeface="Inter" pitchFamily="34" charset="0"/>
                <a:ea typeface="Inter" pitchFamily="34" charset="-122"/>
                <a:cs typeface="Inter" pitchFamily="34" charset="-120"/>
              </a:rPr>
              <a:t>Business Analysis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4950BC"/>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348</TotalTime>
  <Words>350</Words>
  <Application>Microsoft Office PowerPoint</Application>
  <PresentationFormat>Widescreen</PresentationFormat>
  <Paragraphs>111</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Inter Bold</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asus</dc:creator>
  <cp:lastModifiedBy>Anup Sharma</cp:lastModifiedBy>
  <cp:revision>10</cp:revision>
  <dcterms:created xsi:type="dcterms:W3CDTF">2026-07-24T03:39:34Z</dcterms:created>
  <dcterms:modified xsi:type="dcterms:W3CDTF">2026-07-28T06:04:13Z</dcterms:modified>
</cp:coreProperties>
</file>