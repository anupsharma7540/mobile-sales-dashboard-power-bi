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7" r:id="rId2"/>
    <p:sldId id="258" r:id="rId3"/>
    <p:sldId id="259" r:id="rId4"/>
    <p:sldId id="260" r:id="rId5"/>
    <p:sldId id="261" r:id="rId6"/>
    <p:sldId id="262" r:id="rId7"/>
    <p:sldId id="263" r:id="rId8"/>
    <p:sldId id="264" r:id="rId9"/>
    <p:sldId id="265" r:id="rId10"/>
    <p:sldId id="266" r:id="rId11"/>
  </p:sldIdLst>
  <p:sldSz cx="12192000" cy="6858000"/>
  <p:notesSz cx="6858000" cy="12192000"/>
  <p:embeddedFontLst>
    <p:embeddedFont>
      <p:font typeface="Calibri" panose="020F0502020204030204" pitchFamily="34" charset="0"/>
      <p:regular r:id="rId13"/>
      <p:bold r:id="rId14"/>
      <p:italic r:id="rId15"/>
      <p:boldItalic r:id="rId16"/>
    </p:embeddedFont>
    <p:embeddedFont>
      <p:font typeface="Inter" panose="020B0604020202020204" charset="0"/>
      <p:regular r:id="rId17"/>
    </p:embeddedFont>
    <p:embeddedFont>
      <p:font typeface="Inter Bold" panose="020B0604020202020204" charset="0"/>
      <p:regular r:id="rId1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EC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6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9375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3.jpe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4F4"/>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master 2">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4F4"/>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5" name="Shape 2"/>
          <p:cNvSpPr/>
          <p:nvPr/>
        </p:nvSpPr>
        <p:spPr>
          <a:xfrm>
            <a:off x="0" y="0"/>
            <a:ext cx="12191695" cy="6858000"/>
          </a:xfrm>
          <a:prstGeom prst="rect">
            <a:avLst/>
          </a:prstGeom>
          <a:solidFill>
            <a:srgbClr val="FFFFFF">
              <a:alpha val="50000"/>
            </a:srgbClr>
          </a:solidFill>
          <a:ln/>
        </p:spPr>
      </p:sp>
      <p:pic>
        <p:nvPicPr>
          <p:cNvPr id="6"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master 3">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4F4"/>
          </a:solidFill>
          <a:ln/>
        </p:spPr>
      </p:sp>
      <p:sp>
        <p:nvSpPr>
          <p:cNvPr id="3" name="Shape 1"/>
          <p:cNvSpPr/>
          <p:nvPr/>
        </p:nvSpPr>
        <p:spPr>
          <a:xfrm>
            <a:off x="0" y="0"/>
            <a:ext cx="12191695" cy="6858000"/>
          </a:xfrm>
          <a:prstGeom prst="rect">
            <a:avLst/>
          </a:prstGeom>
          <a:solidFill>
            <a:srgbClr val="FFFFFF"/>
          </a:solidFill>
          <a:ln/>
        </p:spPr>
      </p:sp>
      <p:pic>
        <p:nvPicPr>
          <p:cNvPr id="4"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5" name="Shape 2"/>
          <p:cNvSpPr/>
          <p:nvPr/>
        </p:nvSpPr>
        <p:spPr>
          <a:xfrm>
            <a:off x="0" y="0"/>
            <a:ext cx="12191695" cy="6858000"/>
          </a:xfrm>
          <a:prstGeom prst="rect">
            <a:avLst/>
          </a:prstGeom>
          <a:solidFill>
            <a:srgbClr val="FFFFFF">
              <a:alpha val="50000"/>
            </a:srgbClr>
          </a:solidFill>
          <a:ln/>
        </p:spPr>
      </p:sp>
      <p:pic>
        <p:nvPicPr>
          <p:cNvPr id="6"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2101267" y="75085"/>
            <a:ext cx="7989466" cy="604837"/>
          </a:xfrm>
          <a:prstGeom prst="rect">
            <a:avLst/>
          </a:prstGeom>
          <a:noFill/>
          <a:ln/>
        </p:spPr>
        <p:txBody>
          <a:bodyPr wrap="square" lIns="0" tIns="0" rIns="0" bIns="0" rtlCol="0" anchor="t">
            <a:normAutofit/>
          </a:bodyPr>
          <a:lstStyle/>
          <a:p>
            <a:pPr marL="0" indent="0" algn="ctr">
              <a:lnSpc>
                <a:spcPct val="104000"/>
              </a:lnSpc>
              <a:buNone/>
            </a:pPr>
            <a:r>
              <a:rPr lang="en-US" sz="3200" b="1" dirty="0">
                <a:solidFill>
                  <a:srgbClr val="000000"/>
                </a:solidFill>
                <a:latin typeface="Inter Bold" pitchFamily="34" charset="0"/>
                <a:ea typeface="Inter Bold" pitchFamily="34" charset="-122"/>
                <a:cs typeface="Inter Bold" pitchFamily="34" charset="-120"/>
              </a:rPr>
              <a:t>Mobile Sales Analysis Dashboard</a:t>
            </a:r>
            <a:endParaRPr lang="en-US" sz="3200" dirty="0"/>
          </a:p>
        </p:txBody>
      </p:sp>
      <p:sp>
        <p:nvSpPr>
          <p:cNvPr id="4" name="Text 1"/>
          <p:cNvSpPr/>
          <p:nvPr/>
        </p:nvSpPr>
        <p:spPr>
          <a:xfrm>
            <a:off x="3492559" y="679922"/>
            <a:ext cx="5206881" cy="708819"/>
          </a:xfrm>
          <a:prstGeom prst="rect">
            <a:avLst/>
          </a:prstGeom>
          <a:noFill/>
          <a:ln/>
        </p:spPr>
        <p:txBody>
          <a:bodyPr wrap="square" lIns="0" tIns="0" rIns="0" bIns="0" rtlCol="0" anchor="t">
            <a:normAutofit/>
          </a:bodyPr>
          <a:lstStyle/>
          <a:p>
            <a:pPr marL="0" indent="0" algn="ctr">
              <a:lnSpc>
                <a:spcPct val="104000"/>
              </a:lnSpc>
              <a:buNone/>
            </a:pPr>
            <a:r>
              <a:rPr lang="en-US" sz="2200" b="1" dirty="0">
                <a:solidFill>
                  <a:srgbClr val="000000"/>
                </a:solidFill>
                <a:latin typeface="Inter Bold" pitchFamily="34" charset="0"/>
                <a:ea typeface="Inter Bold" pitchFamily="34" charset="-122"/>
                <a:cs typeface="Inter Bold" pitchFamily="34" charset="-120"/>
              </a:rPr>
              <a:t>Power BI Portfolio Project</a:t>
            </a:r>
            <a:endParaRPr lang="en-US" sz="2200" dirty="0"/>
          </a:p>
        </p:txBody>
      </p:sp>
      <p:sp>
        <p:nvSpPr>
          <p:cNvPr id="5" name="Text 2"/>
          <p:cNvSpPr/>
          <p:nvPr/>
        </p:nvSpPr>
        <p:spPr>
          <a:xfrm>
            <a:off x="4521683" y="1086322"/>
            <a:ext cx="1879117" cy="604838"/>
          </a:xfrm>
          <a:prstGeom prst="rect">
            <a:avLst/>
          </a:prstGeom>
          <a:noFill/>
          <a:ln/>
        </p:spPr>
        <p:txBody>
          <a:bodyPr wrap="square" lIns="0" tIns="0" rIns="0" bIns="0" rtlCol="0" anchor="t">
            <a:normAutofit fontScale="77500" lnSpcReduction="20000"/>
          </a:bodyPr>
          <a:lstStyle/>
          <a:p>
            <a:pPr marL="0" indent="0" algn="ctr">
              <a:lnSpc>
                <a:spcPct val="133000"/>
              </a:lnSpc>
              <a:buNone/>
            </a:pPr>
            <a:r>
              <a:rPr lang="en-US" sz="1450" dirty="0">
                <a:solidFill>
                  <a:srgbClr val="272525"/>
                </a:solidFill>
                <a:latin typeface="Inter" pitchFamily="34" charset="0"/>
                <a:ea typeface="Inter" pitchFamily="34" charset="-122"/>
                <a:cs typeface="Inter" pitchFamily="34" charset="-120"/>
              </a:rPr>
              <a:t>Prepared By </a:t>
            </a:r>
          </a:p>
          <a:p>
            <a:pPr marL="0" indent="0" algn="ctr">
              <a:lnSpc>
                <a:spcPct val="133000"/>
              </a:lnSpc>
              <a:buNone/>
            </a:pPr>
            <a:r>
              <a:rPr lang="en-US" sz="1450" dirty="0">
                <a:solidFill>
                  <a:srgbClr val="272525"/>
                </a:solidFill>
                <a:latin typeface="Inter" pitchFamily="34" charset="0"/>
                <a:ea typeface="Inter" pitchFamily="34" charset="-122"/>
                <a:cs typeface="Inter" pitchFamily="34" charset="-120"/>
              </a:rPr>
              <a:t>Anup Sharma </a:t>
            </a:r>
          </a:p>
          <a:p>
            <a:pPr marL="0" indent="0" algn="ctr">
              <a:lnSpc>
                <a:spcPct val="133000"/>
              </a:lnSpc>
              <a:buNone/>
            </a:pPr>
            <a:r>
              <a:rPr lang="en-US" sz="1450" dirty="0">
                <a:solidFill>
                  <a:srgbClr val="272525"/>
                </a:solidFill>
                <a:latin typeface="Inter" pitchFamily="34" charset="0"/>
                <a:ea typeface="Inter" pitchFamily="34" charset="-122"/>
                <a:cs typeface="Inter" pitchFamily="34" charset="-120"/>
              </a:rPr>
              <a:t>Aspiring Data Analyst</a:t>
            </a:r>
            <a:endParaRPr lang="en-US" sz="1450" dirty="0"/>
          </a:p>
        </p:txBody>
      </p:sp>
      <p:pic>
        <p:nvPicPr>
          <p:cNvPr id="7" name="Picture 6">
            <a:extLst>
              <a:ext uri="{FF2B5EF4-FFF2-40B4-BE49-F238E27FC236}">
                <a16:creationId xmlns:a16="http://schemas.microsoft.com/office/drawing/2014/main" id="{73BD2781-9145-47A6-A0C8-3AB0DD212BDE}"/>
              </a:ext>
            </a:extLst>
          </p:cNvPr>
          <p:cNvPicPr>
            <a:picLocks noChangeAspect="1"/>
          </p:cNvPicPr>
          <p:nvPr/>
        </p:nvPicPr>
        <p:blipFill>
          <a:blip r:embed="rId3"/>
          <a:stretch>
            <a:fillRect/>
          </a:stretch>
        </p:blipFill>
        <p:spPr>
          <a:xfrm>
            <a:off x="277906" y="1691160"/>
            <a:ext cx="11582400" cy="4853075"/>
          </a:xfrm>
          <a:prstGeom prst="rect">
            <a:avLst/>
          </a:prstGeom>
          <a:effectLst>
            <a:outerShdw blurRad="50800" dist="38100" dir="2700000" algn="tl" rotWithShape="0">
              <a:prstClr val="black">
                <a:alpha val="40000"/>
              </a:prstClr>
            </a:outerShdw>
          </a:effectLst>
        </p:spPr>
      </p:pic>
      <p:sp>
        <p:nvSpPr>
          <p:cNvPr id="8" name="Rectangle 7">
            <a:extLst>
              <a:ext uri="{FF2B5EF4-FFF2-40B4-BE49-F238E27FC236}">
                <a16:creationId xmlns:a16="http://schemas.microsoft.com/office/drawing/2014/main" id="{11116B83-7E38-4E20-A5FD-4BECF28984BF}"/>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296909"/>
            <a:ext cx="6364426" cy="502047"/>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Project</a:t>
            </a:r>
            <a:r>
              <a:rPr lang="en-US" sz="3150" b="1" dirty="0">
                <a:solidFill>
                  <a:srgbClr val="000000"/>
                </a:solidFill>
                <a:latin typeface="Inter Bold" pitchFamily="34" charset="0"/>
                <a:ea typeface="Inter Bold" pitchFamily="34" charset="-122"/>
                <a:cs typeface="Inter Bold" pitchFamily="34" charset="-120"/>
              </a:rPr>
              <a:t> </a:t>
            </a:r>
            <a:r>
              <a:rPr lang="en-US" sz="3200" b="1" dirty="0">
                <a:solidFill>
                  <a:srgbClr val="000000"/>
                </a:solidFill>
                <a:latin typeface="Inter Bold" pitchFamily="34" charset="0"/>
                <a:ea typeface="Inter Bold" pitchFamily="34" charset="-122"/>
                <a:cs typeface="Inter Bold" pitchFamily="34" charset="-120"/>
              </a:rPr>
              <a:t>Introduction</a:t>
            </a:r>
            <a:endParaRPr lang="en-US" sz="3200" dirty="0"/>
          </a:p>
        </p:txBody>
      </p:sp>
      <p:sp>
        <p:nvSpPr>
          <p:cNvPr id="3" name="Text 1"/>
          <p:cNvSpPr/>
          <p:nvPr/>
        </p:nvSpPr>
        <p:spPr>
          <a:xfrm>
            <a:off x="661475" y="864137"/>
            <a:ext cx="6364426" cy="950912"/>
          </a:xfrm>
          <a:prstGeom prst="rect">
            <a:avLst/>
          </a:prstGeom>
          <a:noFill/>
          <a:ln/>
        </p:spPr>
        <p:txBody>
          <a:bodyPr wrap="square" lIns="0" tIns="0" rIns="0" bIns="0" rtlCol="0" anchor="t">
            <a:normAutofit lnSpcReduction="10000"/>
          </a:bodyPr>
          <a:lstStyle/>
          <a:p>
            <a:pPr marL="0" indent="0" algn="l">
              <a:lnSpc>
                <a:spcPct val="123000"/>
              </a:lnSpc>
              <a:buNone/>
            </a:pPr>
            <a:r>
              <a:rPr lang="en-US" sz="1400" dirty="0">
                <a:solidFill>
                  <a:srgbClr val="272525"/>
                </a:solidFill>
                <a:latin typeface="Inter" pitchFamily="34" charset="0"/>
                <a:ea typeface="Inter" pitchFamily="34" charset="-122"/>
                <a:cs typeface="Inter" pitchFamily="34" charset="-120"/>
              </a:rPr>
              <a:t>This project presents an interactive Power BI dashboard developed to analyze mobile sales data. The dashboard enables users to monitor sales performance, compare trends over time, evaluate customer ratings, and analyze payment methods using interactive filters.</a:t>
            </a:r>
            <a:endParaRPr lang="en-US" sz="1400" dirty="0"/>
          </a:p>
        </p:txBody>
      </p:sp>
      <p:sp>
        <p:nvSpPr>
          <p:cNvPr id="4" name="Text 2"/>
          <p:cNvSpPr/>
          <p:nvPr/>
        </p:nvSpPr>
        <p:spPr>
          <a:xfrm>
            <a:off x="661475" y="1965048"/>
            <a:ext cx="6364426" cy="301228"/>
          </a:xfrm>
          <a:prstGeom prst="rect">
            <a:avLst/>
          </a:prstGeom>
          <a:noFill/>
          <a:ln/>
        </p:spPr>
        <p:txBody>
          <a:bodyPr wrap="none" lIns="0" tIns="0" rIns="0" bIns="0" rtlCol="0" anchor="t"/>
          <a:lstStyle/>
          <a:p>
            <a:pPr marL="0" indent="0" algn="l">
              <a:lnSpc>
                <a:spcPct val="104000"/>
              </a:lnSpc>
              <a:buNone/>
            </a:pPr>
            <a:r>
              <a:rPr lang="en-US" sz="1850" b="1" dirty="0">
                <a:solidFill>
                  <a:srgbClr val="000000"/>
                </a:solidFill>
                <a:latin typeface="Inter Bold" pitchFamily="34" charset="0"/>
                <a:ea typeface="Inter Bold" pitchFamily="34" charset="-122"/>
                <a:cs typeface="Inter Bold" pitchFamily="34" charset="-120"/>
              </a:rPr>
              <a:t>Dashboard Pages:</a:t>
            </a:r>
            <a:endParaRPr lang="en-US" sz="1850" dirty="0"/>
          </a:p>
        </p:txBody>
      </p:sp>
      <p:sp>
        <p:nvSpPr>
          <p:cNvPr id="5" name="Text 3"/>
          <p:cNvSpPr/>
          <p:nvPr/>
        </p:nvSpPr>
        <p:spPr>
          <a:xfrm>
            <a:off x="661475" y="2437210"/>
            <a:ext cx="6364426" cy="808633"/>
          </a:xfrm>
          <a:prstGeom prst="rect">
            <a:avLst/>
          </a:prstGeom>
          <a:noFill/>
          <a:ln/>
        </p:spPr>
        <p:txBody>
          <a:bodyPr wrap="square" lIns="0" tIns="0" rIns="0" bIns="0" rtlCol="0" anchor="t">
            <a:normAutofit/>
          </a:bodyPr>
          <a:lstStyle/>
          <a:p>
            <a:pPr marL="254000" indent="-254000" algn="l">
              <a:lnSpc>
                <a:spcPct val="123000"/>
              </a:lnSpc>
              <a:buSzPct val="100000"/>
              <a:buFont typeface="+mj-lt"/>
              <a:buAutoNum type="arabicPeriod"/>
            </a:pPr>
            <a:r>
              <a:rPr lang="en-US" sz="1400" dirty="0">
                <a:solidFill>
                  <a:srgbClr val="272525"/>
                </a:solidFill>
                <a:latin typeface="Inter" pitchFamily="34" charset="0"/>
                <a:ea typeface="Inter" pitchFamily="34" charset="-122"/>
                <a:cs typeface="Inter" pitchFamily="34" charset="-120"/>
              </a:rPr>
              <a:t>Executive Dashboard</a:t>
            </a:r>
            <a:endParaRPr lang="en-US" sz="1400" dirty="0"/>
          </a:p>
          <a:p>
            <a:pPr marL="254000" indent="-254000" algn="l">
              <a:lnSpc>
                <a:spcPct val="123000"/>
              </a:lnSpc>
              <a:buSzPct val="100000"/>
              <a:buFont typeface="+mj-lt"/>
              <a:buAutoNum type="arabicPeriod" startAt="2"/>
            </a:pPr>
            <a:r>
              <a:rPr lang="en-US" sz="1400" dirty="0">
                <a:solidFill>
                  <a:srgbClr val="272525"/>
                </a:solidFill>
                <a:latin typeface="Inter" pitchFamily="34" charset="0"/>
                <a:ea typeface="Inter" pitchFamily="34" charset="-122"/>
                <a:cs typeface="Inter" pitchFamily="34" charset="-120"/>
              </a:rPr>
              <a:t>Month-to-Date (MTD) Analysis</a:t>
            </a:r>
            <a:endParaRPr lang="en-US" sz="1400" dirty="0"/>
          </a:p>
          <a:p>
            <a:pPr marL="254000" indent="-254000" algn="l">
              <a:lnSpc>
                <a:spcPct val="123000"/>
              </a:lnSpc>
              <a:buSzPct val="100000"/>
              <a:buFont typeface="+mj-lt"/>
              <a:buAutoNum type="arabicPeriod" startAt="3"/>
            </a:pPr>
            <a:r>
              <a:rPr lang="en-US" sz="1400" dirty="0">
                <a:solidFill>
                  <a:srgbClr val="272525"/>
                </a:solidFill>
                <a:latin typeface="Inter" pitchFamily="34" charset="0"/>
                <a:ea typeface="Inter" pitchFamily="34" charset="-122"/>
                <a:cs typeface="Inter" pitchFamily="34" charset="-120"/>
              </a:rPr>
              <a:t>Same Period Last Year (SPLY) Analysis</a:t>
            </a:r>
            <a:endParaRPr lang="en-US" sz="1400" dirty="0"/>
          </a:p>
        </p:txBody>
      </p:sp>
      <p:pic>
        <p:nvPicPr>
          <p:cNvPr id="10" name="Picture 9">
            <a:extLst>
              <a:ext uri="{FF2B5EF4-FFF2-40B4-BE49-F238E27FC236}">
                <a16:creationId xmlns:a16="http://schemas.microsoft.com/office/drawing/2014/main" id="{6BC97FDD-405B-4408-BBDB-483EE5E4C1C7}"/>
              </a:ext>
            </a:extLst>
          </p:cNvPr>
          <p:cNvPicPr>
            <a:picLocks noChangeAspect="1"/>
          </p:cNvPicPr>
          <p:nvPr/>
        </p:nvPicPr>
        <p:blipFill>
          <a:blip r:embed="rId3"/>
          <a:stretch>
            <a:fillRect/>
          </a:stretch>
        </p:blipFill>
        <p:spPr>
          <a:xfrm>
            <a:off x="5866647" y="1577788"/>
            <a:ext cx="5837937" cy="2355145"/>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glow" dir="t">
              <a:rot lat="0" lon="0" rev="4800000"/>
            </a:lightRig>
          </a:scene3d>
          <a:sp3d prstMaterial="matte">
            <a:bevelT w="127000" h="63500"/>
          </a:sp3d>
        </p:spPr>
      </p:pic>
      <p:pic>
        <p:nvPicPr>
          <p:cNvPr id="12" name="Picture 11">
            <a:extLst>
              <a:ext uri="{FF2B5EF4-FFF2-40B4-BE49-F238E27FC236}">
                <a16:creationId xmlns:a16="http://schemas.microsoft.com/office/drawing/2014/main" id="{8FF9051F-1F58-4FA3-A974-8BFCB1D45121}"/>
              </a:ext>
            </a:extLst>
          </p:cNvPr>
          <p:cNvPicPr>
            <a:picLocks noChangeAspect="1"/>
          </p:cNvPicPr>
          <p:nvPr/>
        </p:nvPicPr>
        <p:blipFill>
          <a:blip r:embed="rId4"/>
          <a:stretch>
            <a:fillRect/>
          </a:stretch>
        </p:blipFill>
        <p:spPr>
          <a:xfrm>
            <a:off x="205780" y="4095791"/>
            <a:ext cx="5343373" cy="2644601"/>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glow" dir="t">
              <a:rot lat="0" lon="0" rev="4800000"/>
            </a:lightRig>
          </a:scene3d>
          <a:sp3d prstMaterial="matte">
            <a:bevelT w="127000" h="63500"/>
          </a:sp3d>
        </p:spPr>
      </p:pic>
      <p:sp>
        <p:nvSpPr>
          <p:cNvPr id="15" name="Rectangle 14">
            <a:extLst>
              <a:ext uri="{FF2B5EF4-FFF2-40B4-BE49-F238E27FC236}">
                <a16:creationId xmlns:a16="http://schemas.microsoft.com/office/drawing/2014/main" id="{9498674C-2F9A-4974-AA58-B3D043FBBD65}"/>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4" name="Picture 13">
            <a:extLst>
              <a:ext uri="{FF2B5EF4-FFF2-40B4-BE49-F238E27FC236}">
                <a16:creationId xmlns:a16="http://schemas.microsoft.com/office/drawing/2014/main" id="{B6263A9A-83C3-4EE4-B7F9-D3F13C06C7BA}"/>
              </a:ext>
            </a:extLst>
          </p:cNvPr>
          <p:cNvPicPr>
            <a:picLocks noChangeAspect="1"/>
          </p:cNvPicPr>
          <p:nvPr/>
        </p:nvPicPr>
        <p:blipFill>
          <a:blip r:embed="rId5"/>
          <a:stretch>
            <a:fillRect/>
          </a:stretch>
        </p:blipFill>
        <p:spPr>
          <a:xfrm>
            <a:off x="5728446" y="4095790"/>
            <a:ext cx="5976137" cy="2644601"/>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glow" dir="t">
              <a:rot lat="0" lon="0" rev="4800000"/>
            </a:lightRig>
          </a:scene3d>
          <a:sp3d prstMaterial="matte">
            <a:bevelT w="127000" h="63500"/>
          </a:sp3d>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805259"/>
            <a:ext cx="10868745" cy="472480"/>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Dataset Overview</a:t>
            </a:r>
            <a:endParaRPr lang="en-US" sz="3200" dirty="0"/>
          </a:p>
        </p:txBody>
      </p:sp>
      <p:sp>
        <p:nvSpPr>
          <p:cNvPr id="3" name="Shape 1"/>
          <p:cNvSpPr/>
          <p:nvPr/>
        </p:nvSpPr>
        <p:spPr>
          <a:xfrm>
            <a:off x="661475" y="1595140"/>
            <a:ext cx="5249930" cy="1915319"/>
          </a:xfrm>
          <a:prstGeom prst="roundRect">
            <a:avLst>
              <a:gd name="adj" fmla="val 3316"/>
            </a:avLst>
          </a:prstGeom>
          <a:noFill/>
          <a:ln w="6350">
            <a:solidFill>
              <a:srgbClr val="000000">
                <a:alpha val="8000"/>
              </a:srgbClr>
            </a:solidFill>
            <a:prstDash val="solid"/>
          </a:ln>
        </p:spPr>
      </p:sp>
      <p:sp>
        <p:nvSpPr>
          <p:cNvPr id="4" name="Shape 2"/>
          <p:cNvSpPr/>
          <p:nvPr/>
        </p:nvSpPr>
        <p:spPr>
          <a:xfrm>
            <a:off x="661475" y="1980109"/>
            <a:ext cx="5249930" cy="9451"/>
          </a:xfrm>
          <a:prstGeom prst="rect">
            <a:avLst/>
          </a:prstGeom>
          <a:solidFill>
            <a:srgbClr val="000000">
              <a:alpha val="8000"/>
            </a:srgbClr>
          </a:solidFill>
          <a:ln/>
        </p:spPr>
      </p:sp>
      <p:sp>
        <p:nvSpPr>
          <p:cNvPr id="5" name="Shape 3"/>
          <p:cNvSpPr/>
          <p:nvPr/>
        </p:nvSpPr>
        <p:spPr>
          <a:xfrm>
            <a:off x="661475" y="2361902"/>
            <a:ext cx="5249930" cy="9451"/>
          </a:xfrm>
          <a:prstGeom prst="rect">
            <a:avLst/>
          </a:prstGeom>
          <a:solidFill>
            <a:srgbClr val="000000">
              <a:alpha val="8000"/>
            </a:srgbClr>
          </a:solidFill>
          <a:ln/>
        </p:spPr>
      </p:sp>
      <p:sp>
        <p:nvSpPr>
          <p:cNvPr id="6" name="Shape 4"/>
          <p:cNvSpPr/>
          <p:nvPr/>
        </p:nvSpPr>
        <p:spPr>
          <a:xfrm>
            <a:off x="661475" y="2743696"/>
            <a:ext cx="5249930" cy="9451"/>
          </a:xfrm>
          <a:prstGeom prst="rect">
            <a:avLst/>
          </a:prstGeom>
          <a:solidFill>
            <a:srgbClr val="000000">
              <a:alpha val="8000"/>
            </a:srgbClr>
          </a:solidFill>
          <a:ln/>
        </p:spPr>
      </p:sp>
      <p:sp>
        <p:nvSpPr>
          <p:cNvPr id="7" name="Shape 5"/>
          <p:cNvSpPr/>
          <p:nvPr/>
        </p:nvSpPr>
        <p:spPr>
          <a:xfrm>
            <a:off x="661475" y="3125490"/>
            <a:ext cx="5249930" cy="9451"/>
          </a:xfrm>
          <a:prstGeom prst="rect">
            <a:avLst/>
          </a:prstGeom>
          <a:solidFill>
            <a:srgbClr val="000000">
              <a:alpha val="8000"/>
            </a:srgbClr>
          </a:solidFill>
          <a:ln/>
        </p:spPr>
      </p:sp>
      <p:sp>
        <p:nvSpPr>
          <p:cNvPr id="8" name="Shape 6"/>
          <p:cNvSpPr/>
          <p:nvPr/>
        </p:nvSpPr>
        <p:spPr>
          <a:xfrm>
            <a:off x="2762776" y="1595140"/>
            <a:ext cx="9451" cy="1915319"/>
          </a:xfrm>
          <a:prstGeom prst="rect">
            <a:avLst/>
          </a:prstGeom>
          <a:solidFill>
            <a:srgbClr val="000000">
              <a:alpha val="8000"/>
            </a:srgbClr>
          </a:solidFill>
          <a:ln/>
        </p:spPr>
      </p:sp>
      <p:sp>
        <p:nvSpPr>
          <p:cNvPr id="9" name="Text 7"/>
          <p:cNvSpPr/>
          <p:nvPr/>
        </p:nvSpPr>
        <p:spPr>
          <a:xfrm>
            <a:off x="819130" y="1680369"/>
            <a:ext cx="2398851" cy="217686"/>
          </a:xfrm>
          <a:prstGeom prst="rect">
            <a:avLst/>
          </a:prstGeom>
          <a:noFill/>
          <a:ln/>
        </p:spPr>
        <p:txBody>
          <a:bodyPr wrap="none" lIns="0" tIns="0" rIns="0" bIns="0" rtlCol="0" anchor="t"/>
          <a:lstStyle/>
          <a:p>
            <a:pPr marL="0" indent="0" algn="l">
              <a:lnSpc>
                <a:spcPct val="120000"/>
              </a:lnSpc>
              <a:buNone/>
            </a:pPr>
            <a:r>
              <a:rPr lang="en-US" sz="1400" b="1" dirty="0">
                <a:solidFill>
                  <a:srgbClr val="272525"/>
                </a:solidFill>
                <a:latin typeface="Inter Bold" pitchFamily="34" charset="0"/>
                <a:ea typeface="Inter Bold" pitchFamily="34" charset="-122"/>
                <a:cs typeface="Inter Bold" pitchFamily="34" charset="-120"/>
              </a:rPr>
              <a:t>Item</a:t>
            </a:r>
            <a:endParaRPr lang="en-US" sz="1400" dirty="0"/>
          </a:p>
        </p:txBody>
      </p:sp>
      <p:sp>
        <p:nvSpPr>
          <p:cNvPr id="10" name="Text 8"/>
          <p:cNvSpPr/>
          <p:nvPr/>
        </p:nvSpPr>
        <p:spPr>
          <a:xfrm>
            <a:off x="2917157" y="1680369"/>
            <a:ext cx="3446277" cy="217686"/>
          </a:xfrm>
          <a:prstGeom prst="rect">
            <a:avLst/>
          </a:prstGeom>
          <a:noFill/>
          <a:ln/>
        </p:spPr>
        <p:txBody>
          <a:bodyPr wrap="none" lIns="0" tIns="0" rIns="0" bIns="0" rtlCol="0" anchor="t"/>
          <a:lstStyle/>
          <a:p>
            <a:pPr marL="0" indent="0" algn="l">
              <a:lnSpc>
                <a:spcPct val="120000"/>
              </a:lnSpc>
              <a:buNone/>
            </a:pPr>
            <a:r>
              <a:rPr lang="en-US" sz="1400" b="1" dirty="0">
                <a:solidFill>
                  <a:srgbClr val="272525"/>
                </a:solidFill>
                <a:latin typeface="Inter Bold" pitchFamily="34" charset="0"/>
                <a:ea typeface="Inter Bold" pitchFamily="34" charset="-122"/>
                <a:cs typeface="Inter Bold" pitchFamily="34" charset="-120"/>
              </a:rPr>
              <a:t>Description</a:t>
            </a:r>
            <a:endParaRPr lang="en-US" sz="1400" dirty="0"/>
          </a:p>
        </p:txBody>
      </p:sp>
      <p:sp>
        <p:nvSpPr>
          <p:cNvPr id="11" name="Text 9"/>
          <p:cNvSpPr/>
          <p:nvPr/>
        </p:nvSpPr>
        <p:spPr>
          <a:xfrm>
            <a:off x="819130" y="2062163"/>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Source</a:t>
            </a:r>
            <a:endParaRPr lang="en-US" sz="1400" dirty="0"/>
          </a:p>
        </p:txBody>
      </p:sp>
      <p:sp>
        <p:nvSpPr>
          <p:cNvPr id="12" name="Text 10"/>
          <p:cNvSpPr/>
          <p:nvPr/>
        </p:nvSpPr>
        <p:spPr>
          <a:xfrm>
            <a:off x="2917157" y="2062163"/>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Excel Dataset</a:t>
            </a:r>
            <a:endParaRPr lang="en-US" sz="1400" dirty="0"/>
          </a:p>
        </p:txBody>
      </p:sp>
      <p:sp>
        <p:nvSpPr>
          <p:cNvPr id="13" name="Text 11"/>
          <p:cNvSpPr/>
          <p:nvPr/>
        </p:nvSpPr>
        <p:spPr>
          <a:xfrm>
            <a:off x="819130" y="2443956"/>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Total Transactions</a:t>
            </a:r>
            <a:endParaRPr lang="en-US" sz="1400" dirty="0"/>
          </a:p>
        </p:txBody>
      </p:sp>
      <p:sp>
        <p:nvSpPr>
          <p:cNvPr id="14" name="Text 12"/>
          <p:cNvSpPr/>
          <p:nvPr/>
        </p:nvSpPr>
        <p:spPr>
          <a:xfrm>
            <a:off x="2917157" y="2443956"/>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3,835</a:t>
            </a:r>
            <a:endParaRPr lang="en-US" sz="1400" dirty="0"/>
          </a:p>
        </p:txBody>
      </p:sp>
      <p:sp>
        <p:nvSpPr>
          <p:cNvPr id="15" name="Text 13"/>
          <p:cNvSpPr/>
          <p:nvPr/>
        </p:nvSpPr>
        <p:spPr>
          <a:xfrm>
            <a:off x="819130" y="2825750"/>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Analysis Period</a:t>
            </a:r>
            <a:endParaRPr lang="en-US" sz="1400" dirty="0"/>
          </a:p>
        </p:txBody>
      </p:sp>
      <p:sp>
        <p:nvSpPr>
          <p:cNvPr id="16" name="Text 14"/>
          <p:cNvSpPr/>
          <p:nvPr/>
        </p:nvSpPr>
        <p:spPr>
          <a:xfrm>
            <a:off x="2917157" y="2825750"/>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2021–2024</a:t>
            </a:r>
            <a:endParaRPr lang="en-US" sz="1400" dirty="0"/>
          </a:p>
        </p:txBody>
      </p:sp>
      <p:sp>
        <p:nvSpPr>
          <p:cNvPr id="17" name="Text 15"/>
          <p:cNvSpPr/>
          <p:nvPr/>
        </p:nvSpPr>
        <p:spPr>
          <a:xfrm>
            <a:off x="819130" y="3207544"/>
            <a:ext cx="2398851"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Dashboard Pages</a:t>
            </a:r>
            <a:endParaRPr lang="en-US" sz="1400" dirty="0"/>
          </a:p>
        </p:txBody>
      </p:sp>
      <p:sp>
        <p:nvSpPr>
          <p:cNvPr id="18" name="Text 16"/>
          <p:cNvSpPr/>
          <p:nvPr/>
        </p:nvSpPr>
        <p:spPr>
          <a:xfrm>
            <a:off x="2917157" y="3207544"/>
            <a:ext cx="3446277" cy="217686"/>
          </a:xfrm>
          <a:prstGeom prst="rect">
            <a:avLst/>
          </a:prstGeom>
          <a:noFill/>
          <a:ln/>
        </p:spPr>
        <p:txBody>
          <a:bodyPr wrap="none" lIns="0" tIns="0" rIns="0" bIns="0" rtlCol="0" anchor="t"/>
          <a:lstStyle/>
          <a:p>
            <a:pPr marL="0" indent="0" algn="l">
              <a:lnSpc>
                <a:spcPct val="120000"/>
              </a:lnSpc>
              <a:buNone/>
            </a:pPr>
            <a:r>
              <a:rPr lang="en-US" sz="1400" dirty="0">
                <a:solidFill>
                  <a:srgbClr val="272525"/>
                </a:solidFill>
                <a:latin typeface="Inter" pitchFamily="34" charset="0"/>
                <a:ea typeface="Inter" pitchFamily="34" charset="-122"/>
                <a:cs typeface="Inter" pitchFamily="34" charset="-120"/>
              </a:rPr>
              <a:t>3</a:t>
            </a:r>
            <a:endParaRPr lang="en-US" sz="1400" dirty="0"/>
          </a:p>
        </p:txBody>
      </p:sp>
      <p:sp>
        <p:nvSpPr>
          <p:cNvPr id="19" name="Text 17"/>
          <p:cNvSpPr/>
          <p:nvPr/>
        </p:nvSpPr>
        <p:spPr>
          <a:xfrm>
            <a:off x="7096723" y="1291039"/>
            <a:ext cx="1858531" cy="299778"/>
          </a:xfrm>
          <a:prstGeom prst="rect">
            <a:avLst/>
          </a:prstGeom>
          <a:noFill/>
          <a:ln/>
        </p:spPr>
        <p:txBody>
          <a:bodyPr wrap="none" lIns="0" tIns="0" rIns="0" bIns="0" rtlCol="0" anchor="t"/>
          <a:lstStyle/>
          <a:p>
            <a:pPr marL="0" indent="0" algn="l">
              <a:lnSpc>
                <a:spcPct val="120000"/>
              </a:lnSpc>
              <a:buNone/>
            </a:pPr>
            <a:r>
              <a:rPr lang="en-US" sz="1400" b="1" dirty="0">
                <a:solidFill>
                  <a:srgbClr val="272525"/>
                </a:solidFill>
                <a:latin typeface="Inter Bold" panose="020B0604020202020204" charset="0"/>
                <a:ea typeface="Inter Bold" panose="020B0604020202020204" charset="0"/>
                <a:cs typeface="Inter" pitchFamily="34" charset="-120"/>
              </a:rPr>
              <a:t>Dataset Includes:</a:t>
            </a:r>
            <a:endParaRPr lang="en-US" sz="1400" b="1" dirty="0">
              <a:latin typeface="Inter Bold" panose="020B0604020202020204" charset="0"/>
              <a:ea typeface="Inter Bold" panose="020B0604020202020204" charset="0"/>
            </a:endParaRPr>
          </a:p>
        </p:txBody>
      </p:sp>
      <p:sp>
        <p:nvSpPr>
          <p:cNvPr id="20" name="Text 18"/>
          <p:cNvSpPr/>
          <p:nvPr/>
        </p:nvSpPr>
        <p:spPr>
          <a:xfrm>
            <a:off x="7115263" y="1525684"/>
            <a:ext cx="3014054" cy="1836544"/>
          </a:xfrm>
          <a:prstGeom prst="rect">
            <a:avLst/>
          </a:prstGeom>
          <a:noFill/>
          <a:ln/>
        </p:spPr>
        <p:txBody>
          <a:bodyPr wrap="square" lIns="0" tIns="0" rIns="0" bIns="0" rtlCol="0" anchor="t">
            <a:noAutofit/>
          </a:bodyPr>
          <a:lstStyle/>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Brand</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Mobile Model</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City</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Total Sales</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Units Sold</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Customer Rating</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Payment Method</a:t>
            </a:r>
            <a:endParaRPr lang="en-US" sz="1400" dirty="0"/>
          </a:p>
          <a:p>
            <a:pPr marL="233680" indent="-233680" algn="l">
              <a:lnSpc>
                <a:spcPct val="120000"/>
              </a:lnSpc>
              <a:buSzPct val="100000"/>
              <a:buChar char="•"/>
            </a:pPr>
            <a:r>
              <a:rPr lang="en-US" sz="1400" dirty="0">
                <a:solidFill>
                  <a:srgbClr val="272525"/>
                </a:solidFill>
                <a:latin typeface="Inter" pitchFamily="34" charset="0"/>
                <a:ea typeface="Inter" pitchFamily="34" charset="-122"/>
                <a:cs typeface="Inter" pitchFamily="34" charset="-120"/>
              </a:rPr>
              <a:t>Transaction Date</a:t>
            </a:r>
            <a:endParaRPr lang="en-US" sz="1400" dirty="0"/>
          </a:p>
        </p:txBody>
      </p:sp>
      <p:sp>
        <p:nvSpPr>
          <p:cNvPr id="24" name="Rectangle 23">
            <a:extLst>
              <a:ext uri="{FF2B5EF4-FFF2-40B4-BE49-F238E27FC236}">
                <a16:creationId xmlns:a16="http://schemas.microsoft.com/office/drawing/2014/main" id="{21D54C98-E94B-44C0-AB56-3BB80597BFD3}"/>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400"/>
          </a:p>
        </p:txBody>
      </p:sp>
      <p:pic>
        <p:nvPicPr>
          <p:cNvPr id="23" name="Picture 22">
            <a:extLst>
              <a:ext uri="{FF2B5EF4-FFF2-40B4-BE49-F238E27FC236}">
                <a16:creationId xmlns:a16="http://schemas.microsoft.com/office/drawing/2014/main" id="{17DC8774-0846-4AFD-B53D-399A9497CC8E}"/>
              </a:ext>
            </a:extLst>
          </p:cNvPr>
          <p:cNvPicPr>
            <a:picLocks noChangeAspect="1"/>
          </p:cNvPicPr>
          <p:nvPr/>
        </p:nvPicPr>
        <p:blipFill>
          <a:blip r:embed="rId3"/>
          <a:stretch>
            <a:fillRect/>
          </a:stretch>
        </p:blipFill>
        <p:spPr>
          <a:xfrm>
            <a:off x="2018555" y="3629950"/>
            <a:ext cx="7860231" cy="3095361"/>
          </a:xfrm>
          <a:prstGeom prst="rect">
            <a:avLst/>
          </a:prstGeom>
          <a:effectLst>
            <a:outerShdw blurRad="50800" dist="38100" dir="2700000" algn="tl" rotWithShape="0">
              <a:prstClr val="black">
                <a:alpha val="40000"/>
              </a:prst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522883"/>
            <a:ext cx="10868745" cy="383977"/>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DAX Measures Used</a:t>
            </a:r>
            <a:endParaRPr lang="en-US" sz="3200" dirty="0"/>
          </a:p>
        </p:txBody>
      </p:sp>
      <p:sp>
        <p:nvSpPr>
          <p:cNvPr id="3" name="Text 1"/>
          <p:cNvSpPr/>
          <p:nvPr/>
        </p:nvSpPr>
        <p:spPr>
          <a:xfrm>
            <a:off x="650917" y="1300630"/>
            <a:ext cx="11478330" cy="162123"/>
          </a:xfrm>
          <a:prstGeom prst="rect">
            <a:avLst/>
          </a:prstGeom>
          <a:noFill/>
          <a:ln/>
        </p:spPr>
        <p:txBody>
          <a:bodyPr wrap="none" lIns="0" tIns="0" rIns="0" bIns="0" rtlCol="0" anchor="t"/>
          <a:lstStyle/>
          <a:p>
            <a:pPr marL="0" indent="0" algn="l">
              <a:lnSpc>
                <a:spcPct val="110000"/>
              </a:lnSpc>
              <a:buNone/>
            </a:pPr>
            <a:r>
              <a:rPr lang="en-US" sz="1400" dirty="0">
                <a:solidFill>
                  <a:srgbClr val="272525"/>
                </a:solidFill>
                <a:latin typeface="Inter" pitchFamily="34" charset="0"/>
                <a:ea typeface="Inter" pitchFamily="34" charset="-122"/>
                <a:cs typeface="Inter" pitchFamily="34" charset="-120"/>
              </a:rPr>
              <a:t>The dashboard uses DAX measures to calculate KPIs and perform Time Intelligence analysis.</a:t>
            </a:r>
            <a:endParaRPr lang="en-US" sz="1400" dirty="0"/>
          </a:p>
        </p:txBody>
      </p:sp>
      <p:sp>
        <p:nvSpPr>
          <p:cNvPr id="4" name="Text 2"/>
          <p:cNvSpPr/>
          <p:nvPr/>
        </p:nvSpPr>
        <p:spPr>
          <a:xfrm>
            <a:off x="650271" y="1745010"/>
            <a:ext cx="3422763" cy="191988"/>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KPI Measures</a:t>
            </a:r>
            <a:endParaRPr lang="en-US" sz="1600" dirty="0"/>
          </a:p>
        </p:txBody>
      </p:sp>
      <p:sp>
        <p:nvSpPr>
          <p:cNvPr id="5" name="Text 3"/>
          <p:cNvSpPr/>
          <p:nvPr/>
        </p:nvSpPr>
        <p:spPr>
          <a:xfrm>
            <a:off x="661475" y="2243692"/>
            <a:ext cx="3422763" cy="714661"/>
          </a:xfrm>
          <a:prstGeom prst="rect">
            <a:avLst/>
          </a:prstGeom>
          <a:noFill/>
          <a:ln/>
        </p:spPr>
        <p:txBody>
          <a:bodyPr wrap="square" lIns="0" tIns="0" rIns="0" bIns="0" rtlCol="0" anchor="t">
            <a:noAutofit/>
          </a:bodyPr>
          <a:lstStyle/>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Total Sales</a:t>
            </a:r>
            <a:endParaRPr lang="en-US" sz="1400" dirty="0"/>
          </a:p>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Total Quantity</a:t>
            </a:r>
            <a:endParaRPr lang="en-US" sz="1400" dirty="0"/>
          </a:p>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Total Transaction</a:t>
            </a:r>
            <a:endParaRPr lang="en-US" sz="1400" dirty="0"/>
          </a:p>
        </p:txBody>
      </p:sp>
      <p:sp>
        <p:nvSpPr>
          <p:cNvPr id="6" name="Text 4"/>
          <p:cNvSpPr/>
          <p:nvPr/>
        </p:nvSpPr>
        <p:spPr>
          <a:xfrm>
            <a:off x="4390221" y="1776115"/>
            <a:ext cx="3422763" cy="191988"/>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Time Intelligence</a:t>
            </a:r>
            <a:endParaRPr lang="en-US" sz="1600" dirty="0"/>
          </a:p>
        </p:txBody>
      </p:sp>
      <p:sp>
        <p:nvSpPr>
          <p:cNvPr id="7" name="Text 5"/>
          <p:cNvSpPr/>
          <p:nvPr/>
        </p:nvSpPr>
        <p:spPr>
          <a:xfrm>
            <a:off x="4384465" y="2261622"/>
            <a:ext cx="3422763" cy="589155"/>
          </a:xfrm>
          <a:prstGeom prst="rect">
            <a:avLst/>
          </a:prstGeom>
          <a:noFill/>
          <a:ln/>
        </p:spPr>
        <p:txBody>
          <a:bodyPr wrap="square" lIns="0" tIns="0" rIns="0" bIns="0" rtlCol="0" anchor="t">
            <a:noAutofit/>
          </a:bodyPr>
          <a:lstStyle/>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MTD</a:t>
            </a:r>
            <a:endParaRPr lang="en-US" sz="1400" dirty="0"/>
          </a:p>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Same Period Last Year</a:t>
            </a:r>
            <a:endParaRPr lang="en-US" sz="1400" dirty="0"/>
          </a:p>
        </p:txBody>
      </p:sp>
      <p:sp>
        <p:nvSpPr>
          <p:cNvPr id="8" name="Text 6"/>
          <p:cNvSpPr/>
          <p:nvPr/>
        </p:nvSpPr>
        <p:spPr>
          <a:xfrm>
            <a:off x="8118966" y="1794769"/>
            <a:ext cx="3422763" cy="191988"/>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Conditional Logic</a:t>
            </a:r>
            <a:endParaRPr lang="en-US" sz="1600" dirty="0"/>
          </a:p>
        </p:txBody>
      </p:sp>
      <p:sp>
        <p:nvSpPr>
          <p:cNvPr id="9" name="Text 7"/>
          <p:cNvSpPr/>
          <p:nvPr/>
        </p:nvSpPr>
        <p:spPr>
          <a:xfrm>
            <a:off x="8118966" y="2212528"/>
            <a:ext cx="4032348" cy="162123"/>
          </a:xfrm>
          <a:prstGeom prst="rect">
            <a:avLst/>
          </a:prstGeom>
          <a:noFill/>
          <a:ln/>
        </p:spPr>
        <p:txBody>
          <a:bodyPr wrap="none" lIns="0" tIns="0" rIns="0" bIns="0" rtlCol="0" anchor="t"/>
          <a:lstStyle/>
          <a:p>
            <a:pPr marL="193040" indent="-193040" algn="l">
              <a:lnSpc>
                <a:spcPct val="110000"/>
              </a:lnSpc>
              <a:buSzPct val="100000"/>
              <a:buChar char="•"/>
            </a:pPr>
            <a:r>
              <a:rPr lang="en-US" sz="1400" dirty="0">
                <a:solidFill>
                  <a:srgbClr val="000000"/>
                </a:solidFill>
                <a:latin typeface="Inter" pitchFamily="34" charset="0"/>
                <a:ea typeface="Inter" pitchFamily="34" charset="-122"/>
                <a:cs typeface="Inter" pitchFamily="34" charset="-120"/>
              </a:rPr>
              <a:t>✔</a:t>
            </a:r>
            <a:r>
              <a:rPr lang="en-US" sz="1400" dirty="0">
                <a:solidFill>
                  <a:srgbClr val="272525"/>
                </a:solidFill>
                <a:latin typeface="Inter" pitchFamily="34" charset="0"/>
                <a:ea typeface="Inter" pitchFamily="34" charset="-122"/>
                <a:cs typeface="Inter" pitchFamily="34" charset="-120"/>
              </a:rPr>
              <a:t> Rating Status</a:t>
            </a:r>
            <a:endParaRPr lang="en-US" sz="1400" dirty="0"/>
          </a:p>
        </p:txBody>
      </p:sp>
      <p:sp>
        <p:nvSpPr>
          <p:cNvPr id="14" name="Rectangle 13">
            <a:extLst>
              <a:ext uri="{FF2B5EF4-FFF2-40B4-BE49-F238E27FC236}">
                <a16:creationId xmlns:a16="http://schemas.microsoft.com/office/drawing/2014/main" id="{D14D3CC4-C92C-4099-861C-2EF2EAA95DE6}"/>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8" name="Picture 17">
            <a:extLst>
              <a:ext uri="{FF2B5EF4-FFF2-40B4-BE49-F238E27FC236}">
                <a16:creationId xmlns:a16="http://schemas.microsoft.com/office/drawing/2014/main" id="{FB9DE94A-B602-4E4A-9108-49CA19BB1FD3}"/>
              </a:ext>
            </a:extLst>
          </p:cNvPr>
          <p:cNvPicPr>
            <a:picLocks noChangeAspect="1"/>
          </p:cNvPicPr>
          <p:nvPr/>
        </p:nvPicPr>
        <p:blipFill rotWithShape="1">
          <a:blip r:embed="rId3"/>
          <a:srcRect r="30668"/>
          <a:stretch/>
        </p:blipFill>
        <p:spPr>
          <a:xfrm>
            <a:off x="4211049" y="3547726"/>
            <a:ext cx="3679946" cy="2515879"/>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brightRoom" dir="t">
              <a:rot lat="0" lon="0" rev="600000"/>
            </a:lightRig>
          </a:scene3d>
          <a:sp3d prstMaterial="metal">
            <a:bevelT w="38100" h="57150" prst="angle"/>
          </a:sp3d>
        </p:spPr>
      </p:pic>
      <p:pic>
        <p:nvPicPr>
          <p:cNvPr id="20" name="Picture 19">
            <a:extLst>
              <a:ext uri="{FF2B5EF4-FFF2-40B4-BE49-F238E27FC236}">
                <a16:creationId xmlns:a16="http://schemas.microsoft.com/office/drawing/2014/main" id="{F6D36892-D645-464C-AEF0-FD6085AAC452}"/>
              </a:ext>
            </a:extLst>
          </p:cNvPr>
          <p:cNvPicPr>
            <a:picLocks noChangeAspect="1"/>
          </p:cNvPicPr>
          <p:nvPr/>
        </p:nvPicPr>
        <p:blipFill rotWithShape="1">
          <a:blip r:embed="rId4"/>
          <a:srcRect r="34483" b="32380"/>
          <a:stretch/>
        </p:blipFill>
        <p:spPr>
          <a:xfrm>
            <a:off x="161365" y="3517713"/>
            <a:ext cx="3709335" cy="2515879"/>
          </a:xfrm>
          <a:prstGeom prst="rect">
            <a:avLst/>
          </a:prstGeom>
          <a:ln>
            <a:noFill/>
          </a:ln>
          <a:effectLst>
            <a:outerShdw blurRad="50800" dist="38100" dir="2700000" algn="tl" rotWithShape="0">
              <a:prstClr val="black">
                <a:alpha val="40000"/>
              </a:prstClr>
            </a:outerShdw>
          </a:effectLst>
          <a:scene3d>
            <a:camera prst="orthographicFront">
              <a:rot lat="0" lon="0" rev="0"/>
            </a:camera>
            <a:lightRig rig="brightRoom" dir="t">
              <a:rot lat="0" lon="0" rev="600000"/>
            </a:lightRig>
          </a:scene3d>
          <a:sp3d prstMaterial="metal">
            <a:bevelT w="38100" h="57150" prst="angle"/>
          </a:sp3d>
        </p:spPr>
      </p:pic>
      <p:pic>
        <p:nvPicPr>
          <p:cNvPr id="22" name="Picture 21">
            <a:extLst>
              <a:ext uri="{FF2B5EF4-FFF2-40B4-BE49-F238E27FC236}">
                <a16:creationId xmlns:a16="http://schemas.microsoft.com/office/drawing/2014/main" id="{38016745-3EDA-41E8-BA9A-1AD972A4C632}"/>
              </a:ext>
            </a:extLst>
          </p:cNvPr>
          <p:cNvPicPr>
            <a:picLocks noChangeAspect="1"/>
          </p:cNvPicPr>
          <p:nvPr/>
        </p:nvPicPr>
        <p:blipFill rotWithShape="1">
          <a:blip r:embed="rId5"/>
          <a:srcRect r="33489" b="21820"/>
          <a:stretch/>
        </p:blipFill>
        <p:spPr>
          <a:xfrm>
            <a:off x="8231344" y="3547726"/>
            <a:ext cx="3709335" cy="2455850"/>
          </a:xfrm>
          <a:prstGeom prst="rect">
            <a:avLst/>
          </a:prstGeom>
          <a:effectLst>
            <a:outerShdw blurRad="50800" dist="38100" dir="2700000" algn="tl" rotWithShape="0">
              <a:prstClr val="black">
                <a:alpha val="40000"/>
              </a:prst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539849"/>
            <a:ext cx="10868745"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Executive Dashboard</a:t>
            </a:r>
            <a:endParaRPr lang="en-US" sz="3200" dirty="0"/>
          </a:p>
        </p:txBody>
      </p:sp>
      <p:sp>
        <p:nvSpPr>
          <p:cNvPr id="3" name="Text 1"/>
          <p:cNvSpPr/>
          <p:nvPr/>
        </p:nvSpPr>
        <p:spPr>
          <a:xfrm>
            <a:off x="661474" y="1413966"/>
            <a:ext cx="10868745"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Key KPIs:</a:t>
            </a:r>
            <a:endParaRPr lang="en-US" sz="2200" dirty="0"/>
          </a:p>
        </p:txBody>
      </p:sp>
      <p:sp>
        <p:nvSpPr>
          <p:cNvPr id="4" name="Text 2"/>
          <p:cNvSpPr/>
          <p:nvPr/>
        </p:nvSpPr>
        <p:spPr>
          <a:xfrm>
            <a:off x="661475" y="2157687"/>
            <a:ext cx="10868745" cy="1407914"/>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Total Sales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Total Quantity</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Average Price</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Total Transactions</a:t>
            </a:r>
            <a:endParaRPr lang="en-US" sz="1400" dirty="0"/>
          </a:p>
        </p:txBody>
      </p:sp>
      <p:sp>
        <p:nvSpPr>
          <p:cNvPr id="5" name="Text 3"/>
          <p:cNvSpPr/>
          <p:nvPr/>
        </p:nvSpPr>
        <p:spPr>
          <a:xfrm>
            <a:off x="661475" y="3535363"/>
            <a:ext cx="10868745"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Dashboard Analysis:</a:t>
            </a:r>
            <a:endParaRPr lang="en-US" sz="2200" dirty="0"/>
          </a:p>
        </p:txBody>
      </p:sp>
      <p:sp>
        <p:nvSpPr>
          <p:cNvPr id="6" name="Text 4"/>
          <p:cNvSpPr/>
          <p:nvPr/>
        </p:nvSpPr>
        <p:spPr>
          <a:xfrm>
            <a:off x="661475" y="4173240"/>
            <a:ext cx="10868745" cy="2144911"/>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City-wise Sales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Monthly Sales Trend</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Customer Ratings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Payment Method Analysis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Brand Performance</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Top Mobile Models</a:t>
            </a:r>
            <a:endParaRPr lang="en-US" sz="1400" dirty="0"/>
          </a:p>
        </p:txBody>
      </p:sp>
      <p:sp>
        <p:nvSpPr>
          <p:cNvPr id="7" name="Rectangle 6">
            <a:extLst>
              <a:ext uri="{FF2B5EF4-FFF2-40B4-BE49-F238E27FC236}">
                <a16:creationId xmlns:a16="http://schemas.microsoft.com/office/drawing/2014/main" id="{377AABCA-6D18-4A12-BB2B-CE794D7D3A88}"/>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2364767" y="525066"/>
            <a:ext cx="10868745" cy="429617"/>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Dashboard Features</a:t>
            </a:r>
            <a:endParaRPr lang="en-US" sz="3200" dirty="0"/>
          </a:p>
        </p:txBody>
      </p:sp>
      <p:sp>
        <p:nvSpPr>
          <p:cNvPr id="3" name="Text 1"/>
          <p:cNvSpPr/>
          <p:nvPr/>
        </p:nvSpPr>
        <p:spPr>
          <a:xfrm>
            <a:off x="2364767" y="1228609"/>
            <a:ext cx="5266697" cy="2148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Interactive Features:</a:t>
            </a:r>
            <a:endParaRPr lang="en-US" sz="2200" dirty="0"/>
          </a:p>
        </p:txBody>
      </p:sp>
      <p:sp>
        <p:nvSpPr>
          <p:cNvPr id="4" name="Text 2"/>
          <p:cNvSpPr/>
          <p:nvPr/>
        </p:nvSpPr>
        <p:spPr>
          <a:xfrm>
            <a:off x="2364769" y="1760481"/>
            <a:ext cx="5876282" cy="263582"/>
          </a:xfrm>
          <a:prstGeom prst="rect">
            <a:avLst/>
          </a:prstGeom>
          <a:noFill/>
          <a:ln/>
        </p:spPr>
        <p:txBody>
          <a:bodyPr wrap="none" lIns="0" tIns="0" rIns="0" bIns="0" rtlCol="0" anchor="t"/>
          <a:lstStyle/>
          <a:p>
            <a:pPr marL="0" indent="0" algn="l">
              <a:lnSpc>
                <a:spcPct val="115000"/>
              </a:lnSpc>
              <a:buNone/>
            </a:pPr>
            <a:r>
              <a:rPr lang="en-US" sz="1600" b="1" dirty="0">
                <a:solidFill>
                  <a:srgbClr val="272525"/>
                </a:solidFill>
                <a:latin typeface="Inter Bold" panose="020B0604020202020204" charset="0"/>
                <a:ea typeface="Inter Bold" panose="020B0604020202020204" charset="0"/>
                <a:cs typeface="Arial" panose="020B0604020202020204" pitchFamily="34" charset="0"/>
              </a:rPr>
              <a:t>Filters:</a:t>
            </a:r>
            <a:endParaRPr lang="en-US" sz="1600" b="1" dirty="0">
              <a:latin typeface="Inter Bold" panose="020B0604020202020204" charset="0"/>
              <a:ea typeface="Inter Bold" panose="020B0604020202020204" charset="0"/>
              <a:cs typeface="Arial" panose="020B0604020202020204" pitchFamily="34" charset="0"/>
            </a:endParaRPr>
          </a:p>
        </p:txBody>
      </p:sp>
      <p:sp>
        <p:nvSpPr>
          <p:cNvPr id="5" name="Text 3"/>
          <p:cNvSpPr/>
          <p:nvPr/>
        </p:nvSpPr>
        <p:spPr>
          <a:xfrm>
            <a:off x="2364768" y="2273797"/>
            <a:ext cx="5266697" cy="962462"/>
          </a:xfrm>
          <a:prstGeom prst="rect">
            <a:avLst/>
          </a:prstGeom>
          <a:noFill/>
          <a:ln/>
        </p:spPr>
        <p:txBody>
          <a:bodyPr wrap="square" lIns="0" tIns="0" rIns="0" bIns="0" rtlCol="0" anchor="t">
            <a:noAutofit/>
          </a:bodyPr>
          <a:lstStyle/>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Brand</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Mobile Model</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Payment Method</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Month</a:t>
            </a:r>
            <a:endParaRPr lang="en-US" sz="1400" dirty="0"/>
          </a:p>
        </p:txBody>
      </p:sp>
      <p:sp>
        <p:nvSpPr>
          <p:cNvPr id="6" name="Text 4"/>
          <p:cNvSpPr/>
          <p:nvPr/>
        </p:nvSpPr>
        <p:spPr>
          <a:xfrm>
            <a:off x="2364769" y="3485993"/>
            <a:ext cx="5266697" cy="214809"/>
          </a:xfrm>
          <a:prstGeom prst="rect">
            <a:avLst/>
          </a:prstGeom>
          <a:noFill/>
          <a:ln/>
        </p:spPr>
        <p:txBody>
          <a:bodyPr wrap="none" lIns="0" tIns="0" rIns="0" bIns="0" rtlCol="0" anchor="t"/>
          <a:lstStyle/>
          <a:p>
            <a:pPr marL="0" indent="0" algn="l">
              <a:lnSpc>
                <a:spcPct val="104000"/>
              </a:lnSpc>
              <a:buNone/>
            </a:pPr>
            <a:r>
              <a:rPr lang="en-US" sz="1600" b="1" dirty="0">
                <a:solidFill>
                  <a:srgbClr val="000000"/>
                </a:solidFill>
                <a:latin typeface="Inter Bold" pitchFamily="34" charset="0"/>
                <a:ea typeface="Inter Bold" pitchFamily="34" charset="-122"/>
                <a:cs typeface="Inter Bold" pitchFamily="34" charset="-120"/>
              </a:rPr>
              <a:t>Visualizations Used:</a:t>
            </a:r>
            <a:endParaRPr lang="en-US" sz="1600" dirty="0"/>
          </a:p>
        </p:txBody>
      </p:sp>
      <p:sp>
        <p:nvSpPr>
          <p:cNvPr id="7" name="Text 5"/>
          <p:cNvSpPr/>
          <p:nvPr/>
        </p:nvSpPr>
        <p:spPr>
          <a:xfrm>
            <a:off x="2364769" y="4024114"/>
            <a:ext cx="5266697" cy="1314648"/>
          </a:xfrm>
          <a:prstGeom prst="rect">
            <a:avLst/>
          </a:prstGeom>
          <a:noFill/>
          <a:ln/>
        </p:spPr>
        <p:txBody>
          <a:bodyPr wrap="square" lIns="0" tIns="0" rIns="0" bIns="0" rtlCol="0" anchor="t">
            <a:noAutofit/>
          </a:bodyPr>
          <a:lstStyle/>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KPI Cards</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Map</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Line Chart</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Pie Chart</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Bar Chart</a:t>
            </a:r>
            <a:endParaRPr lang="en-US" sz="1400" dirty="0"/>
          </a:p>
          <a:p>
            <a:pPr marL="213360" indent="-213360" algn="l">
              <a:lnSpc>
                <a:spcPct val="115000"/>
              </a:lnSpc>
              <a:buSzPct val="100000"/>
              <a:buChar char="•"/>
            </a:pPr>
            <a:r>
              <a:rPr lang="en-US" sz="1400" dirty="0">
                <a:solidFill>
                  <a:srgbClr val="272525"/>
                </a:solidFill>
                <a:latin typeface="Inter" pitchFamily="34" charset="0"/>
                <a:ea typeface="Inter" pitchFamily="34" charset="-122"/>
                <a:cs typeface="Inter" pitchFamily="34" charset="-120"/>
              </a:rPr>
              <a:t>Table</a:t>
            </a:r>
            <a:endParaRPr lang="en-US" sz="1400" dirty="0"/>
          </a:p>
        </p:txBody>
      </p:sp>
      <p:sp>
        <p:nvSpPr>
          <p:cNvPr id="9" name="Rectangle 8">
            <a:extLst>
              <a:ext uri="{FF2B5EF4-FFF2-40B4-BE49-F238E27FC236}">
                <a16:creationId xmlns:a16="http://schemas.microsoft.com/office/drawing/2014/main" id="{ED755370-1291-42EC-953D-FA503AAEB8C3}"/>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661475" y="627938"/>
            <a:ext cx="4772898"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MTD Analysis</a:t>
            </a:r>
            <a:endParaRPr lang="en-US" sz="3200" dirty="0"/>
          </a:p>
        </p:txBody>
      </p:sp>
      <p:sp>
        <p:nvSpPr>
          <p:cNvPr id="4" name="Text 1"/>
          <p:cNvSpPr/>
          <p:nvPr/>
        </p:nvSpPr>
        <p:spPr>
          <a:xfrm>
            <a:off x="661475" y="1502055"/>
            <a:ext cx="4772898" cy="1626907"/>
          </a:xfrm>
          <a:prstGeom prst="rect">
            <a:avLst/>
          </a:prstGeom>
          <a:noFill/>
          <a:ln/>
        </p:spPr>
        <p:txBody>
          <a:bodyPr wrap="square" lIns="0" tIns="0" rIns="0" bIns="0" rtlCol="0" anchor="t"/>
          <a:lstStyle/>
          <a:p>
            <a:pPr marL="0" indent="0" algn="l">
              <a:lnSpc>
                <a:spcPct val="133000"/>
              </a:lnSpc>
              <a:spcAft>
                <a:spcPts val="1650"/>
              </a:spcAft>
              <a:buNone/>
            </a:pPr>
            <a:r>
              <a:rPr lang="en-US" sz="1400" dirty="0">
                <a:solidFill>
                  <a:srgbClr val="272525"/>
                </a:solidFill>
                <a:latin typeface="Inter" pitchFamily="34" charset="0"/>
                <a:ea typeface="Inter" pitchFamily="34" charset="-122"/>
                <a:cs typeface="Inter" pitchFamily="34" charset="-120"/>
              </a:rPr>
              <a:t>Month-To-Date Analysis</a:t>
            </a:r>
            <a:endParaRPr lang="en-US" sz="1400" dirty="0"/>
          </a:p>
          <a:p>
            <a:pPr marL="0" indent="0" algn="l">
              <a:lnSpc>
                <a:spcPct val="133000"/>
              </a:lnSpc>
              <a:buNone/>
            </a:pPr>
            <a:r>
              <a:rPr lang="en-US" sz="1600" b="1" dirty="0">
                <a:solidFill>
                  <a:srgbClr val="272525"/>
                </a:solidFill>
                <a:latin typeface="Inter" pitchFamily="34" charset="0"/>
                <a:ea typeface="Inter" pitchFamily="34" charset="-122"/>
                <a:cs typeface="Inter" pitchFamily="34" charset="-120"/>
              </a:rPr>
              <a:t>Purpose: </a:t>
            </a:r>
          </a:p>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Track cumulative sales performance throughout the selected month.</a:t>
            </a:r>
            <a:endParaRPr lang="en-US" sz="1400" dirty="0"/>
          </a:p>
        </p:txBody>
      </p:sp>
      <p:sp>
        <p:nvSpPr>
          <p:cNvPr id="5" name="Text 2"/>
          <p:cNvSpPr/>
          <p:nvPr/>
        </p:nvSpPr>
        <p:spPr>
          <a:xfrm>
            <a:off x="661475" y="3570734"/>
            <a:ext cx="4772898" cy="35440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Highlights:</a:t>
            </a:r>
            <a:endParaRPr lang="en-US" sz="3200" dirty="0"/>
          </a:p>
        </p:txBody>
      </p:sp>
      <p:sp>
        <p:nvSpPr>
          <p:cNvPr id="6" name="Text 3"/>
          <p:cNvSpPr/>
          <p:nvPr/>
        </p:nvSpPr>
        <p:spPr>
          <a:xfrm>
            <a:off x="661476" y="4366915"/>
            <a:ext cx="4772898" cy="1039416"/>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Daily Sales Trend</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Running Monthly Sales</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Monthly Performance Monitoring</a:t>
            </a:r>
            <a:endParaRPr lang="en-US" sz="1400" dirty="0"/>
          </a:p>
        </p:txBody>
      </p:sp>
      <p:pic>
        <p:nvPicPr>
          <p:cNvPr id="8" name="Picture 7">
            <a:extLst>
              <a:ext uri="{FF2B5EF4-FFF2-40B4-BE49-F238E27FC236}">
                <a16:creationId xmlns:a16="http://schemas.microsoft.com/office/drawing/2014/main" id="{3899B14D-9CA9-4E40-922E-3F0D46CD0235}"/>
              </a:ext>
            </a:extLst>
          </p:cNvPr>
          <p:cNvPicPr>
            <a:picLocks noChangeAspect="1"/>
          </p:cNvPicPr>
          <p:nvPr/>
        </p:nvPicPr>
        <p:blipFill>
          <a:blip r:embed="rId3"/>
          <a:stretch>
            <a:fillRect/>
          </a:stretch>
        </p:blipFill>
        <p:spPr>
          <a:xfrm>
            <a:off x="5434374" y="1219200"/>
            <a:ext cx="6757626" cy="4482353"/>
          </a:xfrm>
          <a:prstGeom prst="rect">
            <a:avLst/>
          </a:prstGeom>
        </p:spPr>
      </p:pic>
      <p:sp>
        <p:nvSpPr>
          <p:cNvPr id="9" name="Rectangle 8">
            <a:extLst>
              <a:ext uri="{FF2B5EF4-FFF2-40B4-BE49-F238E27FC236}">
                <a16:creationId xmlns:a16="http://schemas.microsoft.com/office/drawing/2014/main" id="{C92CD94E-93F9-4E88-885C-9EDAE98D1F49}"/>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661475" y="743358"/>
            <a:ext cx="6296860" cy="590649"/>
          </a:xfrm>
          <a:prstGeom prst="rect">
            <a:avLst/>
          </a:prstGeom>
          <a:noFill/>
          <a:ln/>
        </p:spPr>
        <p:txBody>
          <a:bodyPr wrap="none" lIns="0" tIns="0" rIns="0" bIns="0" rtlCol="0" anchor="t"/>
          <a:lstStyle/>
          <a:p>
            <a:pPr>
              <a:lnSpc>
                <a:spcPct val="104000"/>
              </a:lnSpc>
            </a:pPr>
            <a:r>
              <a:rPr lang="en-US" sz="3200" b="1" dirty="0">
                <a:solidFill>
                  <a:srgbClr val="000000"/>
                </a:solidFill>
                <a:latin typeface="Inter Bold" pitchFamily="34" charset="0"/>
                <a:ea typeface="Inter Bold" pitchFamily="34" charset="-122"/>
                <a:cs typeface="Inter Bold" pitchFamily="34" charset="-120"/>
              </a:rPr>
              <a:t>Same Period Last Year </a:t>
            </a:r>
            <a:r>
              <a:rPr lang="en-US" sz="3200" b="1" dirty="0">
                <a:solidFill>
                  <a:srgbClr val="000000"/>
                </a:solidFill>
                <a:latin typeface="Inter Bold" pitchFamily="34" charset="0"/>
                <a:ea typeface="Inter Bold" pitchFamily="34" charset="-122"/>
              </a:rPr>
              <a:t>Analysis</a:t>
            </a:r>
          </a:p>
          <a:p>
            <a:pPr marL="0" indent="0" algn="l">
              <a:lnSpc>
                <a:spcPct val="104000"/>
              </a:lnSpc>
              <a:buNone/>
            </a:pPr>
            <a:endParaRPr lang="en-US" sz="3200" dirty="0"/>
          </a:p>
        </p:txBody>
      </p:sp>
      <p:sp>
        <p:nvSpPr>
          <p:cNvPr id="4" name="Text 1"/>
          <p:cNvSpPr/>
          <p:nvPr/>
        </p:nvSpPr>
        <p:spPr>
          <a:xfrm>
            <a:off x="661475" y="1630270"/>
            <a:ext cx="4941466" cy="1283259"/>
          </a:xfrm>
          <a:prstGeom prst="rect">
            <a:avLst/>
          </a:prstGeom>
          <a:noFill/>
          <a:ln/>
        </p:spPr>
        <p:txBody>
          <a:bodyPr wrap="square" lIns="0" tIns="0" rIns="0" bIns="0" rtlCol="0" anchor="t"/>
          <a:lstStyle/>
          <a:p>
            <a:pPr marL="0" indent="0" algn="l">
              <a:lnSpc>
                <a:spcPct val="133000"/>
              </a:lnSpc>
              <a:spcAft>
                <a:spcPts val="1650"/>
              </a:spcAft>
              <a:buNone/>
            </a:pPr>
            <a:r>
              <a:rPr lang="en-US" sz="2200" b="1" dirty="0">
                <a:solidFill>
                  <a:srgbClr val="000000"/>
                </a:solidFill>
                <a:latin typeface="Inter Bold" pitchFamily="34" charset="0"/>
                <a:ea typeface="Inter Bold" pitchFamily="34" charset="-122"/>
              </a:rPr>
              <a:t>Purpose: </a:t>
            </a:r>
          </a:p>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Compare current sales performance with the corresponding period of the previous year.</a:t>
            </a:r>
            <a:endParaRPr lang="en-US" sz="1400" dirty="0"/>
          </a:p>
        </p:txBody>
      </p:sp>
      <p:sp>
        <p:nvSpPr>
          <p:cNvPr id="5" name="Text 2"/>
          <p:cNvSpPr/>
          <p:nvPr/>
        </p:nvSpPr>
        <p:spPr>
          <a:xfrm>
            <a:off x="661475" y="3074591"/>
            <a:ext cx="6296860"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Analysis:</a:t>
            </a:r>
            <a:endParaRPr lang="en-US" sz="2200" dirty="0"/>
          </a:p>
        </p:txBody>
      </p:sp>
      <p:sp>
        <p:nvSpPr>
          <p:cNvPr id="6" name="Text 3"/>
          <p:cNvSpPr/>
          <p:nvPr/>
        </p:nvSpPr>
        <p:spPr>
          <a:xfrm>
            <a:off x="661475" y="3684177"/>
            <a:ext cx="6296860" cy="1039416"/>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Monthly Comparison</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Quarterly Comparison</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Yearly Comparison</a:t>
            </a:r>
            <a:endParaRPr lang="en-US" sz="1400" dirty="0"/>
          </a:p>
        </p:txBody>
      </p:sp>
      <p:pic>
        <p:nvPicPr>
          <p:cNvPr id="8" name="Picture 7">
            <a:extLst>
              <a:ext uri="{FF2B5EF4-FFF2-40B4-BE49-F238E27FC236}">
                <a16:creationId xmlns:a16="http://schemas.microsoft.com/office/drawing/2014/main" id="{0CBA1EEC-2CAB-40F2-AA4C-D94C75C8F27C}"/>
              </a:ext>
            </a:extLst>
          </p:cNvPr>
          <p:cNvPicPr>
            <a:picLocks noChangeAspect="1"/>
          </p:cNvPicPr>
          <p:nvPr/>
        </p:nvPicPr>
        <p:blipFill>
          <a:blip r:embed="rId3"/>
          <a:stretch>
            <a:fillRect/>
          </a:stretch>
        </p:blipFill>
        <p:spPr>
          <a:xfrm>
            <a:off x="5008462" y="1630270"/>
            <a:ext cx="6870181" cy="4033461"/>
          </a:xfrm>
          <a:prstGeom prst="rect">
            <a:avLst/>
          </a:prstGeom>
          <a:effectLst>
            <a:outerShdw blurRad="50800" dist="38100" dir="2700000" algn="tl" rotWithShape="0">
              <a:prstClr val="black">
                <a:alpha val="40000"/>
              </a:prstClr>
            </a:outerShdw>
          </a:effectLst>
        </p:spPr>
      </p:pic>
      <p:sp>
        <p:nvSpPr>
          <p:cNvPr id="9" name="Rectangle 8">
            <a:extLst>
              <a:ext uri="{FF2B5EF4-FFF2-40B4-BE49-F238E27FC236}">
                <a16:creationId xmlns:a16="http://schemas.microsoft.com/office/drawing/2014/main" id="{24366988-79D2-46D8-8751-5D2965D96FCB}"/>
              </a:ext>
            </a:extLst>
          </p:cNvPr>
          <p:cNvSpPr/>
          <p:nvPr/>
        </p:nvSpPr>
        <p:spPr>
          <a:xfrm>
            <a:off x="11080376" y="6553200"/>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61475" y="752078"/>
            <a:ext cx="10868745"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Key Features &amp; Insights</a:t>
            </a:r>
            <a:endParaRPr lang="en-US" sz="3200" dirty="0"/>
          </a:p>
        </p:txBody>
      </p:sp>
      <p:sp>
        <p:nvSpPr>
          <p:cNvPr id="3" name="Shape 1"/>
          <p:cNvSpPr/>
          <p:nvPr/>
        </p:nvSpPr>
        <p:spPr>
          <a:xfrm>
            <a:off x="661475" y="1824732"/>
            <a:ext cx="94454" cy="94456"/>
          </a:xfrm>
          <a:prstGeom prst="ellipse">
            <a:avLst/>
          </a:prstGeom>
          <a:solidFill>
            <a:srgbClr val="4950BC"/>
          </a:solidFill>
          <a:ln/>
        </p:spPr>
      </p:sp>
      <p:sp>
        <p:nvSpPr>
          <p:cNvPr id="4" name="Text 2"/>
          <p:cNvSpPr/>
          <p:nvPr/>
        </p:nvSpPr>
        <p:spPr>
          <a:xfrm>
            <a:off x="944936" y="1720751"/>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Interactive KPI monitoring</a:t>
            </a:r>
            <a:endParaRPr lang="en-US" sz="1400" dirty="0"/>
          </a:p>
        </p:txBody>
      </p:sp>
      <p:sp>
        <p:nvSpPr>
          <p:cNvPr id="5" name="Shape 3"/>
          <p:cNvSpPr/>
          <p:nvPr/>
        </p:nvSpPr>
        <p:spPr>
          <a:xfrm>
            <a:off x="661475" y="2505174"/>
            <a:ext cx="94454" cy="94456"/>
          </a:xfrm>
          <a:prstGeom prst="ellipse">
            <a:avLst/>
          </a:prstGeom>
          <a:solidFill>
            <a:srgbClr val="4950BC"/>
          </a:solidFill>
          <a:ln/>
        </p:spPr>
      </p:sp>
      <p:sp>
        <p:nvSpPr>
          <p:cNvPr id="6" name="Text 4"/>
          <p:cNvSpPr/>
          <p:nvPr/>
        </p:nvSpPr>
        <p:spPr>
          <a:xfrm>
            <a:off x="944936" y="2401193"/>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Dynamic filtering by Brand, Model, Payment Method, and Month</a:t>
            </a:r>
            <a:endParaRPr lang="en-US" sz="1400" dirty="0"/>
          </a:p>
        </p:txBody>
      </p:sp>
      <p:sp>
        <p:nvSpPr>
          <p:cNvPr id="7" name="Shape 5"/>
          <p:cNvSpPr/>
          <p:nvPr/>
        </p:nvSpPr>
        <p:spPr>
          <a:xfrm>
            <a:off x="661475" y="3185616"/>
            <a:ext cx="94454" cy="94456"/>
          </a:xfrm>
          <a:prstGeom prst="ellipse">
            <a:avLst/>
          </a:prstGeom>
          <a:solidFill>
            <a:srgbClr val="4950BC"/>
          </a:solidFill>
          <a:ln/>
        </p:spPr>
      </p:sp>
      <p:sp>
        <p:nvSpPr>
          <p:cNvPr id="8" name="Text 6"/>
          <p:cNvSpPr/>
          <p:nvPr/>
        </p:nvSpPr>
        <p:spPr>
          <a:xfrm>
            <a:off x="944936" y="3081635"/>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City-wise sales analysis through map visualization</a:t>
            </a:r>
            <a:endParaRPr lang="en-US" sz="1400" dirty="0"/>
          </a:p>
        </p:txBody>
      </p:sp>
      <p:sp>
        <p:nvSpPr>
          <p:cNvPr id="9" name="Shape 7"/>
          <p:cNvSpPr/>
          <p:nvPr/>
        </p:nvSpPr>
        <p:spPr>
          <a:xfrm>
            <a:off x="661475" y="3866059"/>
            <a:ext cx="94454" cy="94456"/>
          </a:xfrm>
          <a:prstGeom prst="ellipse">
            <a:avLst/>
          </a:prstGeom>
          <a:solidFill>
            <a:srgbClr val="4950BC"/>
          </a:solidFill>
          <a:ln/>
        </p:spPr>
      </p:sp>
      <p:sp>
        <p:nvSpPr>
          <p:cNvPr id="10" name="Text 8"/>
          <p:cNvSpPr/>
          <p:nvPr/>
        </p:nvSpPr>
        <p:spPr>
          <a:xfrm>
            <a:off x="944936" y="3762077"/>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Month-to-Date (MTD) sales tracking</a:t>
            </a:r>
            <a:endParaRPr lang="en-US" sz="1400" dirty="0"/>
          </a:p>
        </p:txBody>
      </p:sp>
      <p:sp>
        <p:nvSpPr>
          <p:cNvPr id="11" name="Shape 9"/>
          <p:cNvSpPr/>
          <p:nvPr/>
        </p:nvSpPr>
        <p:spPr>
          <a:xfrm>
            <a:off x="661475" y="4546501"/>
            <a:ext cx="94454" cy="94456"/>
          </a:xfrm>
          <a:prstGeom prst="ellipse">
            <a:avLst/>
          </a:prstGeom>
          <a:solidFill>
            <a:srgbClr val="4950BC"/>
          </a:solidFill>
          <a:ln/>
        </p:spPr>
      </p:sp>
      <p:sp>
        <p:nvSpPr>
          <p:cNvPr id="12" name="Text 10"/>
          <p:cNvSpPr/>
          <p:nvPr/>
        </p:nvSpPr>
        <p:spPr>
          <a:xfrm>
            <a:off x="944936" y="4442520"/>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Year-over-Year sales comparison using SAMEPERIODLASTYEAR</a:t>
            </a:r>
            <a:endParaRPr lang="en-US" sz="1400" dirty="0"/>
          </a:p>
        </p:txBody>
      </p:sp>
      <p:sp>
        <p:nvSpPr>
          <p:cNvPr id="13" name="Shape 11"/>
          <p:cNvSpPr/>
          <p:nvPr/>
        </p:nvSpPr>
        <p:spPr>
          <a:xfrm>
            <a:off x="661475" y="5226943"/>
            <a:ext cx="94454" cy="94456"/>
          </a:xfrm>
          <a:prstGeom prst="ellipse">
            <a:avLst/>
          </a:prstGeom>
          <a:solidFill>
            <a:srgbClr val="4950BC"/>
          </a:solidFill>
          <a:ln/>
        </p:spPr>
      </p:sp>
      <p:sp>
        <p:nvSpPr>
          <p:cNvPr id="14" name="Text 12"/>
          <p:cNvSpPr/>
          <p:nvPr/>
        </p:nvSpPr>
        <p:spPr>
          <a:xfrm>
            <a:off x="944936" y="5122962"/>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Customer rating and payment method analysis</a:t>
            </a:r>
            <a:endParaRPr lang="en-US" sz="1400" dirty="0"/>
          </a:p>
        </p:txBody>
      </p:sp>
      <p:sp>
        <p:nvSpPr>
          <p:cNvPr id="15" name="Shape 13"/>
          <p:cNvSpPr/>
          <p:nvPr/>
        </p:nvSpPr>
        <p:spPr>
          <a:xfrm>
            <a:off x="661475" y="5907385"/>
            <a:ext cx="94454" cy="94456"/>
          </a:xfrm>
          <a:prstGeom prst="ellipse">
            <a:avLst/>
          </a:prstGeom>
          <a:solidFill>
            <a:srgbClr val="4950BC"/>
          </a:solidFill>
          <a:ln/>
        </p:spPr>
      </p:sp>
      <p:sp>
        <p:nvSpPr>
          <p:cNvPr id="16" name="Text 14"/>
          <p:cNvSpPr/>
          <p:nvPr/>
        </p:nvSpPr>
        <p:spPr>
          <a:xfrm>
            <a:off x="944936" y="5803403"/>
            <a:ext cx="10585284"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Responsive dashboard with cross-filtering across visuals</a:t>
            </a:r>
            <a:endParaRPr lang="en-US" sz="1400" dirty="0"/>
          </a:p>
        </p:txBody>
      </p:sp>
      <p:sp>
        <p:nvSpPr>
          <p:cNvPr id="17" name="Rectangle 16">
            <a:extLst>
              <a:ext uri="{FF2B5EF4-FFF2-40B4-BE49-F238E27FC236}">
                <a16:creationId xmlns:a16="http://schemas.microsoft.com/office/drawing/2014/main" id="{313C4232-854D-4E0B-86C4-BC318EE93C38}"/>
              </a:ext>
            </a:extLst>
          </p:cNvPr>
          <p:cNvSpPr/>
          <p:nvPr/>
        </p:nvSpPr>
        <p:spPr>
          <a:xfrm>
            <a:off x="11080376" y="6544235"/>
            <a:ext cx="1048871" cy="3024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562DE0F-E229-4C59-8A60-C25FE2D12A35}"/>
              </a:ext>
            </a:extLst>
          </p:cNvPr>
          <p:cNvSpPr/>
          <p:nvPr/>
        </p:nvSpPr>
        <p:spPr>
          <a:xfrm>
            <a:off x="1" y="0"/>
            <a:ext cx="12192000" cy="68556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 0"/>
          <p:cNvSpPr/>
          <p:nvPr/>
        </p:nvSpPr>
        <p:spPr>
          <a:xfrm>
            <a:off x="661475" y="1307604"/>
            <a:ext cx="10868745" cy="590649"/>
          </a:xfrm>
          <a:prstGeom prst="rect">
            <a:avLst/>
          </a:prstGeom>
          <a:noFill/>
          <a:ln/>
        </p:spPr>
        <p:txBody>
          <a:bodyPr wrap="none" lIns="0" tIns="0" rIns="0" bIns="0" rtlCol="0" anchor="t"/>
          <a:lstStyle/>
          <a:p>
            <a:pPr marL="0" indent="0" algn="l">
              <a:lnSpc>
                <a:spcPct val="104000"/>
              </a:lnSpc>
              <a:buNone/>
            </a:pPr>
            <a:r>
              <a:rPr lang="en-US" sz="3200" b="1" dirty="0">
                <a:solidFill>
                  <a:srgbClr val="000000"/>
                </a:solidFill>
                <a:latin typeface="Inter Bold" pitchFamily="34" charset="0"/>
                <a:ea typeface="Inter Bold" pitchFamily="34" charset="-122"/>
                <a:cs typeface="Inter Bold" pitchFamily="34" charset="-120"/>
              </a:rPr>
              <a:t>Conclusion</a:t>
            </a:r>
            <a:endParaRPr lang="en-US" sz="3200" dirty="0"/>
          </a:p>
        </p:txBody>
      </p:sp>
      <p:sp>
        <p:nvSpPr>
          <p:cNvPr id="3" name="Text 1"/>
          <p:cNvSpPr/>
          <p:nvPr/>
        </p:nvSpPr>
        <p:spPr>
          <a:xfrm>
            <a:off x="661475" y="2181721"/>
            <a:ext cx="11478330" cy="302419"/>
          </a:xfrm>
          <a:prstGeom prst="rect">
            <a:avLst/>
          </a:prstGeom>
          <a:noFill/>
          <a:ln/>
        </p:spPr>
        <p:txBody>
          <a:bodyPr wrap="none" lIns="0" tIns="0" rIns="0" bIns="0" rtlCol="0" anchor="t"/>
          <a:lstStyle/>
          <a:p>
            <a:pPr marL="0" indent="0" algn="l">
              <a:lnSpc>
                <a:spcPct val="133000"/>
              </a:lnSpc>
              <a:buNone/>
            </a:pPr>
            <a:r>
              <a:rPr lang="en-US" sz="1400" dirty="0">
                <a:solidFill>
                  <a:srgbClr val="272525"/>
                </a:solidFill>
                <a:latin typeface="Inter" pitchFamily="34" charset="0"/>
                <a:ea typeface="Inter" pitchFamily="34" charset="-122"/>
                <a:cs typeface="Inter" pitchFamily="34" charset="-120"/>
              </a:rPr>
              <a:t>This dashboard transforms raw mobile sales data into meaningful business insights through interactive visualizations.</a:t>
            </a:r>
            <a:endParaRPr lang="en-US" sz="1400" dirty="0"/>
          </a:p>
        </p:txBody>
      </p:sp>
      <p:sp>
        <p:nvSpPr>
          <p:cNvPr id="4" name="Text 2"/>
          <p:cNvSpPr/>
          <p:nvPr/>
        </p:nvSpPr>
        <p:spPr>
          <a:xfrm>
            <a:off x="661475" y="2767608"/>
            <a:ext cx="10868745" cy="354409"/>
          </a:xfrm>
          <a:prstGeom prst="rect">
            <a:avLst/>
          </a:prstGeom>
          <a:noFill/>
          <a:ln/>
        </p:spPr>
        <p:txBody>
          <a:bodyPr wrap="none" lIns="0" tIns="0" rIns="0" bIns="0" rtlCol="0" anchor="t"/>
          <a:lstStyle/>
          <a:p>
            <a:pPr marL="0" indent="0" algn="l">
              <a:lnSpc>
                <a:spcPct val="104000"/>
              </a:lnSpc>
              <a:buNone/>
            </a:pPr>
            <a:r>
              <a:rPr lang="en-US" sz="2200" b="1" dirty="0">
                <a:solidFill>
                  <a:srgbClr val="000000"/>
                </a:solidFill>
                <a:latin typeface="Inter Bold" pitchFamily="34" charset="0"/>
                <a:ea typeface="Inter Bold" pitchFamily="34" charset="-122"/>
                <a:cs typeface="Inter Bold" pitchFamily="34" charset="-120"/>
              </a:rPr>
              <a:t>Skills Demonstrated:</a:t>
            </a:r>
            <a:endParaRPr lang="en-US" sz="2200" dirty="0"/>
          </a:p>
        </p:txBody>
      </p:sp>
      <p:sp>
        <p:nvSpPr>
          <p:cNvPr id="5" name="Text 3"/>
          <p:cNvSpPr/>
          <p:nvPr/>
        </p:nvSpPr>
        <p:spPr>
          <a:xfrm>
            <a:off x="661475" y="3405485"/>
            <a:ext cx="10868745" cy="2144911"/>
          </a:xfrm>
          <a:prstGeom prst="rect">
            <a:avLst/>
          </a:prstGeom>
          <a:noFill/>
          <a:ln/>
        </p:spPr>
        <p:txBody>
          <a:bodyPr wrap="square" lIns="0" tIns="0" rIns="0" bIns="0" rtlCol="0" anchor="t">
            <a:normAutofit/>
          </a:bodyPr>
          <a:lstStyle/>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Power BI</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Power Query</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DAX</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Data Visualization</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Time Intelligence</a:t>
            </a:r>
            <a:endParaRPr lang="en-US" sz="1400" dirty="0"/>
          </a:p>
          <a:p>
            <a:pPr marL="294640" indent="-294640" algn="l">
              <a:lnSpc>
                <a:spcPct val="133000"/>
              </a:lnSpc>
              <a:buSzPct val="100000"/>
              <a:buChar char="•"/>
            </a:pPr>
            <a:r>
              <a:rPr lang="en-US" sz="1400" dirty="0">
                <a:solidFill>
                  <a:srgbClr val="272525"/>
                </a:solidFill>
                <a:latin typeface="Inter" pitchFamily="34" charset="0"/>
                <a:ea typeface="Inter" pitchFamily="34" charset="-122"/>
                <a:cs typeface="Inter" pitchFamily="34" charset="-120"/>
              </a:rPr>
              <a:t>Business Analysis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4950BC"/>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333</TotalTime>
  <Words>350</Words>
  <Application>Microsoft Office PowerPoint</Application>
  <PresentationFormat>Widescreen</PresentationFormat>
  <Paragraphs>111</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Inter Bold</vt:lpstr>
      <vt:lpstr>Inter</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asus</dc:creator>
  <cp:lastModifiedBy>Anup Sharma</cp:lastModifiedBy>
  <cp:revision>10</cp:revision>
  <dcterms:created xsi:type="dcterms:W3CDTF">2026-07-24T03:39:34Z</dcterms:created>
  <dcterms:modified xsi:type="dcterms:W3CDTF">2026-07-24T09:13:16Z</dcterms:modified>
</cp:coreProperties>
</file>